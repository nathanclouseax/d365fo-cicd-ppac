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66"/>
  </p:notesMasterIdLst>
  <p:handoutMasterIdLst>
    <p:handoutMasterId r:id="rId67"/>
  </p:handoutMasterIdLst>
  <p:sldIdLst>
    <p:sldId id="256" r:id="rId5"/>
    <p:sldId id="257" r:id="rId6"/>
    <p:sldId id="258" r:id="rId7"/>
    <p:sldId id="259" r:id="rId8"/>
    <p:sldId id="260" r:id="rId9"/>
    <p:sldId id="318" r:id="rId10"/>
    <p:sldId id="261" r:id="rId11"/>
    <p:sldId id="262" r:id="rId12"/>
    <p:sldId id="263" r:id="rId13"/>
    <p:sldId id="294" r:id="rId14"/>
    <p:sldId id="295" r:id="rId15"/>
    <p:sldId id="296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97" r:id="rId24"/>
    <p:sldId id="299" r:id="rId25"/>
    <p:sldId id="300" r:id="rId26"/>
    <p:sldId id="271" r:id="rId27"/>
    <p:sldId id="272" r:id="rId28"/>
    <p:sldId id="301" r:id="rId29"/>
    <p:sldId id="304" r:id="rId30"/>
    <p:sldId id="303" r:id="rId31"/>
    <p:sldId id="273" r:id="rId32"/>
    <p:sldId id="274" r:id="rId33"/>
    <p:sldId id="275" r:id="rId34"/>
    <p:sldId id="276" r:id="rId35"/>
    <p:sldId id="305" r:id="rId36"/>
    <p:sldId id="307" r:id="rId37"/>
    <p:sldId id="306" r:id="rId38"/>
    <p:sldId id="277" r:id="rId39"/>
    <p:sldId id="278" r:id="rId40"/>
    <p:sldId id="279" r:id="rId41"/>
    <p:sldId id="280" r:id="rId42"/>
    <p:sldId id="308" r:id="rId43"/>
    <p:sldId id="310" r:id="rId44"/>
    <p:sldId id="311" r:id="rId45"/>
    <p:sldId id="309" r:id="rId46"/>
    <p:sldId id="281" r:id="rId47"/>
    <p:sldId id="282" r:id="rId48"/>
    <p:sldId id="283" r:id="rId49"/>
    <p:sldId id="284" r:id="rId50"/>
    <p:sldId id="285" r:id="rId51"/>
    <p:sldId id="312" r:id="rId52"/>
    <p:sldId id="314" r:id="rId53"/>
    <p:sldId id="313" r:id="rId54"/>
    <p:sldId id="286" r:id="rId55"/>
    <p:sldId id="287" r:id="rId56"/>
    <p:sldId id="288" r:id="rId57"/>
    <p:sldId id="289" r:id="rId58"/>
    <p:sldId id="315" r:id="rId59"/>
    <p:sldId id="317" r:id="rId60"/>
    <p:sldId id="316" r:id="rId61"/>
    <p:sldId id="290" r:id="rId62"/>
    <p:sldId id="291" r:id="rId63"/>
    <p:sldId id="292" r:id="rId64"/>
    <p:sldId id="293" r:id="rId65"/>
  </p:sldIdLst>
  <p:sldSz cx="12192000" cy="6858000"/>
  <p:notesSz cx="6858000" cy="9144000"/>
  <p:defaultTextStyle>
    <a:defPPr>
      <a:defRPr lang="en-H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LOR TEMPLATE SLIDES" id="{309E532F-7394-2448-A93B-7AE2B9652425}">
          <p14:sldIdLst>
            <p14:sldId id="256"/>
            <p14:sldId id="257"/>
            <p14:sldId id="258"/>
            <p14:sldId id="259"/>
            <p14:sldId id="260"/>
            <p14:sldId id="318"/>
            <p14:sldId id="261"/>
            <p14:sldId id="262"/>
            <p14:sldId id="263"/>
            <p14:sldId id="294"/>
            <p14:sldId id="295"/>
            <p14:sldId id="296"/>
            <p14:sldId id="264"/>
            <p14:sldId id="265"/>
            <p14:sldId id="266"/>
          </p14:sldIdLst>
        </p14:section>
        <p14:section name="EXAMPLE" id="{09130ACA-EDB7-DF4D-9937-E1518D4AC5FA}">
          <p14:sldIdLst>
            <p14:sldId id="267"/>
            <p14:sldId id="268"/>
            <p14:sldId id="269"/>
            <p14:sldId id="270"/>
            <p14:sldId id="297"/>
            <p14:sldId id="299"/>
            <p14:sldId id="300"/>
            <p14:sldId id="271"/>
            <p14:sldId id="272"/>
            <p14:sldId id="301"/>
            <p14:sldId id="304"/>
            <p14:sldId id="303"/>
            <p14:sldId id="273"/>
          </p14:sldIdLst>
        </p14:section>
        <p14:section name="START AND END SLIDES" id="{17604F27-F6A3-C04A-9F56-798C91995481}">
          <p14:sldIdLst/>
        </p14:section>
        <p14:section name="LIGHT TEMPLATE SLIDES" id="{A1A75153-4830-F64A-8B95-AEB28448ED86}">
          <p14:sldIdLst>
            <p14:sldId id="274"/>
            <p14:sldId id="275"/>
            <p14:sldId id="276"/>
            <p14:sldId id="305"/>
            <p14:sldId id="307"/>
            <p14:sldId id="306"/>
            <p14:sldId id="277"/>
            <p14:sldId id="278"/>
            <p14:sldId id="279"/>
            <p14:sldId id="280"/>
            <p14:sldId id="308"/>
            <p14:sldId id="310"/>
            <p14:sldId id="311"/>
            <p14:sldId id="309"/>
            <p14:sldId id="281"/>
            <p14:sldId id="282"/>
            <p14:sldId id="283"/>
            <p14:sldId id="284"/>
            <p14:sldId id="285"/>
            <p14:sldId id="312"/>
            <p14:sldId id="314"/>
            <p14:sldId id="313"/>
            <p14:sldId id="286"/>
            <p14:sldId id="287"/>
            <p14:sldId id="288"/>
            <p14:sldId id="289"/>
            <p14:sldId id="315"/>
            <p14:sldId id="317"/>
            <p14:sldId id="316"/>
            <p14:sldId id="290"/>
            <p14:sldId id="291"/>
            <p14:sldId id="292"/>
            <p14:sldId id="293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D420"/>
    <a:srgbClr val="E39F2A"/>
    <a:srgbClr val="551114"/>
    <a:srgbClr val="000000"/>
    <a:srgbClr val="05A89F"/>
    <a:srgbClr val="85FF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2BA129-3041-A7D0-2399-CC36DDE5FF95}" v="1" dt="2026-01-09T14:21:57.8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54"/>
    <p:restoredTop sz="86172" autoAdjust="0"/>
  </p:normalViewPr>
  <p:slideViewPr>
    <p:cSldViewPr snapToGrid="0">
      <p:cViewPr>
        <p:scale>
          <a:sx n="75" d="100"/>
          <a:sy n="75" d="100"/>
        </p:scale>
        <p:origin x="1860" y="4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60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presProps" Target="presProps.xml"/><Relationship Id="rId7" Type="http://schemas.openxmlformats.org/officeDocument/2006/relationships/slide" Target="slides/slide3.xml"/><Relationship Id="rId71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microsoft.com/office/2015/10/relationships/revisionInfo" Target="revisionInfo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handoutMaster" Target="handoutMasters/handout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24B8BD5-38DB-AA23-3C35-DCC874B321A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H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D2A52E-716B-2CDF-C6A7-0E399ED9DE2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F40BCD-C288-C943-8938-EA8554747701}" type="datetimeFigureOut">
              <a:rPr lang="en-HR" smtClean="0"/>
              <a:t>05/19/2026</a:t>
            </a:fld>
            <a:endParaRPr lang="en-H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3330EA-EC03-0070-849C-86D5E07FE20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H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648EE2-2123-4B66-F35B-8E2C968C679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8BCB51-F38D-DC42-B70B-15EA67C14CED}" type="slidenum">
              <a:rPr lang="en-HR" smtClean="0"/>
              <a:t>‹#›</a:t>
            </a:fld>
            <a:endParaRPr lang="en-HR"/>
          </a:p>
        </p:txBody>
      </p:sp>
    </p:spTree>
    <p:extLst>
      <p:ext uri="{BB962C8B-B14F-4D97-AF65-F5344CB8AC3E}">
        <p14:creationId xmlns:p14="http://schemas.microsoft.com/office/powerpoint/2010/main" val="18787978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EA9363-3BB8-4740-AE53-36181DACD3F9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E666B0-AC6B-4D79-B925-1498B4202F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4425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**If running long:** Trim "Environment Automation" — point to docs/repo.</a:t>
            </a:r>
          </a:p>
          <a:p>
            <a:r>
              <a:rPr lang="en-US" dirty="0"/>
              <a:t>**If running short:** Expand "When Things Go Wrong" with audience horror stories — everyone has one.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E666B0-AC6B-4D79-B925-1498B4202F7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8054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**interaction**</a:t>
            </a:r>
            <a:br>
              <a:rPr lang="en-US" dirty="0"/>
            </a:br>
            <a:r>
              <a:rPr lang="en-US" dirty="0"/>
              <a:t>ask about who is doing any of the following</a:t>
            </a:r>
            <a:br>
              <a:rPr lang="en-US" dirty="0"/>
            </a:br>
            <a:br>
              <a:rPr lang="en-US" dirty="0"/>
            </a:br>
            <a:r>
              <a:rPr lang="en-US" dirty="0"/>
              <a:t>- [ ] At least one completed build → deploy → release chain to show artifact flow</a:t>
            </a:r>
          </a:p>
          <a:p>
            <a:r>
              <a:rPr lang="en-US" dirty="0"/>
              <a:t>- [ ] PPAC admin center showing environment operations history</a:t>
            </a:r>
          </a:p>
          <a:p>
            <a:r>
              <a:rPr lang="en-US" dirty="0"/>
              <a:t>- [ ] Pipeline run history showing the progression through environments</a:t>
            </a:r>
          </a:p>
          <a:p>
            <a:r>
              <a:rPr lang="en-US" dirty="0"/>
              <a:t>- [ ] Slide showing LCS workflow vs pipeline workflow side-by-side</a:t>
            </a:r>
          </a:p>
          <a:p>
            <a:r>
              <a:rPr lang="en-US" dirty="0"/>
              <a:t>- [ ] Backup screenshots in case live demo fails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E666B0-AC6B-4D79-B925-1498B4202F7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7977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LCS isn't going away tomorrow, but PPAC APIs are where all the new investment is. This is the direction.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E666B0-AC6B-4D79-B925-1498B4202F7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0492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863D1-A7F1-57BF-FC14-F3DEB1EF4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D2C45B-A7AA-919C-99C3-7B7AB3E212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84DB2A-A3A5-03CB-E784-E446EA6AB9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LCS isn't going away tomorrow, but PPAC APIs are where all the new investment is. This is the direction.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5DA177-33A3-24DC-5075-DA3C767215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E666B0-AC6B-4D79-B925-1498B4202F7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1591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B9D90-737A-48B7-A5AC-0E2CB1A35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3BF504-7CB5-BF86-0BAB-D78D656C44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318440-556C-B561-ADB5-B4B98FBB29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LCS isn't going away tomorrow, but PPAC APIs are where all the new investment is. This is the direction.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731641-6B28-18B0-D569-F589356098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E666B0-AC6B-4D79-B925-1498B4202F7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0829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E7FA9-034A-F024-B547-414B4D29F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539C83-D1CB-6BB3-92D6-601D295FF3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2EE9E5-1396-2210-2BD9-98DFD6029F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LCS isn't going away tomorrow, but PPAC APIs are where all the new investment is. This is the direction.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40BB1E-DEF9-6682-BA9D-E9EAC2F6AB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E666B0-AC6B-4D79-B925-1498B4202F7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3715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PR to main runs a full integration test:</a:t>
            </a:r>
          </a:p>
          <a:p>
            <a:r>
              <a:rPr lang="en-US" dirty="0"/>
              <a:t>1. Provision ephemeral sandbox</a:t>
            </a:r>
          </a:p>
          <a:p>
            <a:r>
              <a:rPr lang="en-US" dirty="0"/>
              <a:t>2. Copy database from known-good source</a:t>
            </a:r>
          </a:p>
          <a:p>
            <a:r>
              <a:rPr lang="en-US" dirty="0"/>
              <a:t>3. Deploy the package + DB sync</a:t>
            </a:r>
          </a:p>
          <a:p>
            <a:r>
              <a:rPr lang="en-US" dirty="0"/>
              <a:t>4. Run automated tests</a:t>
            </a:r>
          </a:p>
          <a:p>
            <a:r>
              <a:rPr lang="en-US" dirty="0"/>
              <a:t>5. Tear down (always, even on failure)</a:t>
            </a:r>
          </a:p>
          <a:p>
            <a:endParaRPr lang="en-US" dirty="0"/>
          </a:p>
          <a:p>
            <a:r>
              <a:rPr lang="en-US" dirty="0"/>
              <a:t>**Key insight:** By the time a release branch is cut from main, every commit has already been validated in a real F&amp;O environment. The UAT deployment is for business acceptance, not regression catching.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E666B0-AC6B-4D79-B925-1498B4202F7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0646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**Talking point:** "Process" means someone has to remember. "Structure" means they can't forget.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E666B0-AC6B-4D79-B925-1498B4202F73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3544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Before deploying, poll the environment state</a:t>
            </a:r>
          </a:p>
          <a:p>
            <a:r>
              <a:rPr lang="en-US" dirty="0"/>
              <a:t>- Environments can be in "Servicing" from Microsoft updates or prior operations</a:t>
            </a:r>
          </a:p>
          <a:p>
            <a:r>
              <a:rPr lang="en-US" dirty="0"/>
              <a:t>- Without a readiness check: instant failure, manual retry, wasted time</a:t>
            </a:r>
          </a:p>
          <a:p>
            <a:pPr marL="171450" indent="-171450">
              <a:buFontTx/>
              <a:buChar char="-"/>
            </a:pPr>
            <a:r>
              <a:rPr lang="en-US" dirty="0"/>
              <a:t>With it: the pipeline waits gracefully, deploys when ready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- The agent must stay connected until the platform confirms completion</a:t>
            </a:r>
          </a:p>
          <a:p>
            <a:pPr marL="171450" indent="-171450">
              <a:buFontTx/>
              <a:buChar char="-"/>
            </a:pPr>
            <a:r>
              <a:rPr lang="en-US" dirty="0"/>
              <a:t>- Fire-and-forget = failed deployments you don't know about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  <a:p>
            <a:pPr marL="0" indent="0">
              <a:buFontTx/>
              <a:buNone/>
            </a:pPr>
            <a:r>
              <a:rPr lang="en-US" dirty="0"/>
              <a:t>- Don't trust the deploy task's exit code alone</a:t>
            </a:r>
          </a:p>
          <a:p>
            <a:pPr marL="0" indent="0">
              <a:buFontTx/>
              <a:buNone/>
            </a:pPr>
            <a:r>
              <a:rPr lang="en-US" dirty="0"/>
              <a:t>- Query the management API independently — what does the platform actually say?</a:t>
            </a:r>
          </a:p>
          <a:p>
            <a:pPr marL="0" indent="0">
              <a:buFontTx/>
              <a:buNone/>
            </a:pPr>
            <a:r>
              <a:rPr lang="en-US" dirty="0"/>
              <a:t>- This is the gate for downstream: GOLD only proceeds if DM verification passes</a:t>
            </a:r>
          </a:p>
          <a:p>
            <a:pPr marL="0" indent="0"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E666B0-AC6B-4D79-B925-1498B4202F73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5822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### Branch-triggered provisioning</a:t>
            </a:r>
          </a:p>
          <a:p>
            <a:endParaRPr lang="en-US" dirty="0"/>
          </a:p>
          <a:p>
            <a:r>
              <a:rPr lang="en-US" dirty="0"/>
              <a:t>- Push a feature branch → pipeline provisions a sandbox automatically</a:t>
            </a:r>
          </a:p>
          <a:p>
            <a:r>
              <a:rPr lang="en-US" dirty="0"/>
              <a:t>- Environment ready in 15-30 minutes with F&amp;O template applied</a:t>
            </a:r>
          </a:p>
          <a:p>
            <a:r>
              <a:rPr lang="en-US" dirty="0"/>
              <a:t>- Developer gets a real environment with no portal clicks, no support tickets</a:t>
            </a:r>
          </a:p>
          <a:p>
            <a:endParaRPr lang="en-US" dirty="0"/>
          </a:p>
          <a:p>
            <a:r>
              <a:rPr lang="en-US" dirty="0"/>
              <a:t>### Database copy as a pipeline step</a:t>
            </a:r>
          </a:p>
          <a:p>
            <a:endParaRPr lang="en-US" dirty="0"/>
          </a:p>
          <a:p>
            <a:r>
              <a:rPr lang="en-US" dirty="0"/>
              <a:t>- After provisioning, copy data from a known-good source automatically</a:t>
            </a:r>
          </a:p>
          <a:p>
            <a:r>
              <a:rPr lang="en-US" dirty="0"/>
              <a:t>- Same mechanism for: sandbox initialization, UAT refresh, pre-release GOLD refresh</a:t>
            </a:r>
          </a:p>
          <a:p>
            <a:r>
              <a:rPr lang="en-US" dirty="0"/>
              <a:t>- Developers test against real data from day one</a:t>
            </a:r>
          </a:p>
          <a:p>
            <a:endParaRPr lang="en-US" dirty="0"/>
          </a:p>
          <a:p>
            <a:r>
              <a:rPr lang="en-US" dirty="0"/>
              <a:t>### DMF entity refresh</a:t>
            </a:r>
          </a:p>
          <a:p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After deploying new data entities, trigger a DMF entity refresh </a:t>
            </a:r>
          </a:p>
          <a:p>
            <a:pPr marL="171450" indent="-171450">
              <a:buFontTx/>
              <a:buChar char="-"/>
            </a:pPr>
            <a:r>
              <a:rPr lang="en-US" dirty="0"/>
              <a:t>- Automated — no manual "publish all entities" step</a:t>
            </a:r>
          </a:p>
          <a:p>
            <a:pPr marL="171450" indent="-171450">
              <a:buFontTx/>
              <a:buChar char="-"/>
            </a:pPr>
            <a:r>
              <a:rPr lang="en-US" dirty="0"/>
              <a:t>Requires the service principal registered as an F&amp;O application user (common gotcha)</a:t>
            </a:r>
          </a:p>
          <a:p>
            <a:pPr marL="171450" indent="-171450">
              <a:buFontTx/>
              <a:buChar char="-"/>
            </a:pPr>
            <a:r>
              <a:rPr lang="en-US" dirty="0"/>
              <a:t>More automation options like enable dual write helper (</a:t>
            </a:r>
            <a:r>
              <a:rPr lang="en-US" dirty="0" err="1"/>
              <a:t>DWHelper</a:t>
            </a:r>
            <a:r>
              <a:rPr lang="en-US" dirty="0"/>
              <a:t>)</a:t>
            </a:r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E666B0-AC6B-4D79-B925-1498B4202F73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5293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0918054-D093-BA94-8373-D8E8B3AC64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 descr="A black and white text&#10;&#10;AI-generated content may be incorrect.">
            <a:extLst>
              <a:ext uri="{FF2B5EF4-FFF2-40B4-BE49-F238E27FC236}">
                <a16:creationId xmlns:a16="http://schemas.microsoft.com/office/drawing/2014/main" id="{897C8413-AD67-F837-9759-3957D2DD0CE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20700" y="313972"/>
            <a:ext cx="5755922" cy="12816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DCEC3E4-A5BE-A7FE-C68A-82548630EF2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7064022" y="1928362"/>
            <a:ext cx="4276174" cy="431951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E431729-F0C0-01A1-7980-1DC2F6E2A3E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 rot="587408">
            <a:off x="-398248" y="4717922"/>
            <a:ext cx="2882109" cy="2882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8170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E6E6898-9F76-2B3B-2FB9-10CD76B6B75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9091" b="18661"/>
          <a:stretch>
            <a:fillRect/>
          </a:stretch>
        </p:blipFill>
        <p:spPr>
          <a:xfrm>
            <a:off x="0" y="721971"/>
            <a:ext cx="12192000" cy="613603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45E1698-73AB-F988-0997-98ACA59C83F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520700" y="313972"/>
            <a:ext cx="5755922" cy="128165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99E1255-6CBA-7F30-D271-A0BBC6ECF44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7687226" y="802933"/>
            <a:ext cx="4276174" cy="431951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D83EB80-C65C-ED68-B032-74E4B8C6248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 rot="587408">
            <a:off x="935251" y="4603622"/>
            <a:ext cx="2882109" cy="2882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911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lcom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BDB13CC-AB9F-C43D-91D1-1B404F5717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766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BDB13CC-AB9F-C43D-91D1-1B404F5717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6753C50-EE2F-02F2-B641-BD219A37833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20210" y="1628373"/>
            <a:ext cx="3501190" cy="3527999"/>
          </a:xfrm>
          <a:prstGeom prst="ellipse">
            <a:avLst/>
          </a:prstGeom>
          <a:ln w="57150">
            <a:solidFill>
              <a:srgbClr val="F5D420"/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HR" dirty="0"/>
          </a:p>
        </p:txBody>
      </p:sp>
      <p:pic>
        <p:nvPicPr>
          <p:cNvPr id="2" name="Picture 1" descr="A black and white text&#10;&#10;AI-generated content may be incorrect.">
            <a:extLst>
              <a:ext uri="{FF2B5EF4-FFF2-40B4-BE49-F238E27FC236}">
                <a16:creationId xmlns:a16="http://schemas.microsoft.com/office/drawing/2014/main" id="{41D59BD3-E27C-7A3D-29E8-E2BBC5AFD6E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20700" y="313972"/>
            <a:ext cx="5755922" cy="1281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504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BDB13CC-AB9F-C43D-91D1-1B404F5717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6753C50-EE2F-02F2-B641-BD219A37833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915558" y="793141"/>
            <a:ext cx="2257966" cy="2275255"/>
          </a:xfrm>
          <a:prstGeom prst="ellipse">
            <a:avLst/>
          </a:prstGeom>
          <a:ln w="57150">
            <a:solidFill>
              <a:srgbClr val="F5D420"/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HR" dirty="0"/>
          </a:p>
        </p:txBody>
      </p:sp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0204303A-B8B0-5CF8-76A7-5A494AD74A1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012202" y="3209743"/>
            <a:ext cx="2257966" cy="2275255"/>
          </a:xfrm>
          <a:prstGeom prst="ellipse">
            <a:avLst/>
          </a:prstGeom>
          <a:ln w="57150">
            <a:solidFill>
              <a:srgbClr val="F5D420"/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HR" dirty="0"/>
          </a:p>
        </p:txBody>
      </p:sp>
      <p:pic>
        <p:nvPicPr>
          <p:cNvPr id="5" name="Picture 4" descr="A black and white text&#10;&#10;AI-generated content may be incorrect.">
            <a:extLst>
              <a:ext uri="{FF2B5EF4-FFF2-40B4-BE49-F238E27FC236}">
                <a16:creationId xmlns:a16="http://schemas.microsoft.com/office/drawing/2014/main" id="{8CA8AA22-BBCB-0DE0-A721-15A54D2D4B6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20700" y="313972"/>
            <a:ext cx="5755922" cy="1281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104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_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6753C50-EE2F-02F2-B641-BD219A37833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20210" y="1628373"/>
            <a:ext cx="3501190" cy="3527999"/>
          </a:xfrm>
          <a:prstGeom prst="ellipse">
            <a:avLst/>
          </a:prstGeom>
          <a:ln w="57150">
            <a:solidFill>
              <a:srgbClr val="F5D420"/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H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9C44EF-0249-1A4D-F511-6B9B93AEEBF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 rot="6070266">
            <a:off x="9498952" y="3505417"/>
            <a:ext cx="3448421" cy="34484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8D79C09-E088-1F39-7434-9E0AED5B962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-93557" y="4352313"/>
            <a:ext cx="2983637" cy="298363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9A5CC2C-B3AD-1345-C1EC-DE4D5B87261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520700" y="313972"/>
            <a:ext cx="5755922" cy="1281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3729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2_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1C7C056-0A1F-FF09-7E29-F5647A6F75E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 rot="6070266">
            <a:off x="9498952" y="3505417"/>
            <a:ext cx="3448421" cy="3448421"/>
          </a:xfrm>
          <a:prstGeom prst="rect">
            <a:avLst/>
          </a:prstGeom>
        </p:spPr>
      </p:pic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6753C50-EE2F-02F2-B641-BD219A37833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915558" y="793141"/>
            <a:ext cx="2257966" cy="2275255"/>
          </a:xfrm>
          <a:prstGeom prst="ellipse">
            <a:avLst/>
          </a:prstGeom>
          <a:ln w="57150">
            <a:solidFill>
              <a:srgbClr val="F5D420"/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HR" dirty="0"/>
          </a:p>
        </p:txBody>
      </p:sp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0204303A-B8B0-5CF8-76A7-5A494AD74A1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012202" y="3209743"/>
            <a:ext cx="2257966" cy="2275255"/>
          </a:xfrm>
          <a:prstGeom prst="ellipse">
            <a:avLst/>
          </a:prstGeom>
          <a:ln w="57150">
            <a:solidFill>
              <a:srgbClr val="F5D420"/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H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04838D-D715-94D5-1441-86AD370513F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520700" y="313972"/>
            <a:ext cx="5755922" cy="128165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54E2409-CFFF-792C-1540-BC158F54E5D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-93557" y="4352313"/>
            <a:ext cx="2983637" cy="2983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330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BDB13CC-AB9F-C43D-91D1-1B404F5717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-1"/>
            <a:ext cx="121920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BAA2048-002D-25D8-79B4-C91460FA899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9091" b="18661"/>
          <a:stretch>
            <a:fillRect/>
          </a:stretch>
        </p:blipFill>
        <p:spPr>
          <a:xfrm>
            <a:off x="0" y="721971"/>
            <a:ext cx="12192000" cy="613603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934E233E-AD73-520C-A055-DEFD1FD7F73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8088" y="2575931"/>
            <a:ext cx="9144000" cy="1023241"/>
          </a:xfrm>
        </p:spPr>
        <p:txBody>
          <a:bodyPr anchor="b"/>
          <a:lstStyle>
            <a:lvl1pPr algn="l">
              <a:defRPr sz="6000" b="1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Divider Title</a:t>
            </a:r>
            <a:endParaRPr lang="en-HR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749037-E4EE-3AB2-08E4-139429AAAE0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 rot="6070266">
            <a:off x="9498952" y="3505417"/>
            <a:ext cx="3448421" cy="3448421"/>
          </a:xfrm>
          <a:prstGeom prst="rect">
            <a:avLst/>
          </a:prstGeom>
        </p:spPr>
      </p:pic>
      <p:pic>
        <p:nvPicPr>
          <p:cNvPr id="7" name="Picture 6" descr="A black and white text&#10;&#10;AI-generated content may be incorrect.">
            <a:extLst>
              <a:ext uri="{FF2B5EF4-FFF2-40B4-BE49-F238E27FC236}">
                <a16:creationId xmlns:a16="http://schemas.microsoft.com/office/drawing/2014/main" id="{2695AC8F-ABFF-3858-172B-F90719C70D0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20700" y="313972"/>
            <a:ext cx="5755922" cy="1281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147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BDB13CC-AB9F-C43D-91D1-1B404F5717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26" r="1626" b="3253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934E233E-AD73-520C-A055-DEFD1FD7F73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8088" y="2575931"/>
            <a:ext cx="9144000" cy="1023241"/>
          </a:xfrm>
        </p:spPr>
        <p:txBody>
          <a:bodyPr anchor="b"/>
          <a:lstStyle>
            <a:lvl1pPr algn="l">
              <a:defRPr sz="6000" b="1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Divider Title</a:t>
            </a:r>
            <a:endParaRPr lang="en-HR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749037-E4EE-3AB2-08E4-139429AAAE0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 rot="6070266">
            <a:off x="9498952" y="3505417"/>
            <a:ext cx="3448421" cy="3448421"/>
          </a:xfrm>
          <a:prstGeom prst="rect">
            <a:avLst/>
          </a:prstGeom>
        </p:spPr>
      </p:pic>
      <p:pic>
        <p:nvPicPr>
          <p:cNvPr id="7" name="Picture 6" descr="A black and white text&#10;&#10;AI-generated content may be incorrect.">
            <a:extLst>
              <a:ext uri="{FF2B5EF4-FFF2-40B4-BE49-F238E27FC236}">
                <a16:creationId xmlns:a16="http://schemas.microsoft.com/office/drawing/2014/main" id="{2695AC8F-ABFF-3858-172B-F90719C70D0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20700" y="313972"/>
            <a:ext cx="5755922" cy="1281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0524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BDB13CC-AB9F-C43D-91D1-1B404F5717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934E233E-AD73-520C-A055-DEFD1FD7F73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8088" y="2575931"/>
            <a:ext cx="9144000" cy="1023241"/>
          </a:xfrm>
        </p:spPr>
        <p:txBody>
          <a:bodyPr anchor="b"/>
          <a:lstStyle>
            <a:lvl1pPr algn="l">
              <a:defRPr sz="6000" b="1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Divider Title</a:t>
            </a:r>
            <a:endParaRPr lang="en-HR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749037-E4EE-3AB2-08E4-139429AAAE0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 rot="6070266">
            <a:off x="9498952" y="3505417"/>
            <a:ext cx="3448421" cy="344842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782E7EE-15A0-CC3A-5D9B-6CB92FB2576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520700" y="5241572"/>
            <a:ext cx="5755922" cy="1281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5090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0E83B-4F0D-229B-FE33-4AA526900E7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8088" y="2575931"/>
            <a:ext cx="9144000" cy="1023241"/>
          </a:xfrm>
        </p:spPr>
        <p:txBody>
          <a:bodyPr anchor="b"/>
          <a:lstStyle>
            <a:lvl1pPr algn="l">
              <a:defRPr sz="6000" b="1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Divider Title</a:t>
            </a:r>
            <a:endParaRPr lang="en-HR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BCB36A6-17DD-9238-DAF4-BBFB6A01FD5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 rot="6070266">
            <a:off x="9498952" y="3505417"/>
            <a:ext cx="3448421" cy="34484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93BC00D-4030-31F2-73A8-30D97F3D528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520700" y="313972"/>
            <a:ext cx="5755922" cy="1281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0173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BDB13CC-AB9F-C43D-91D1-1B404F5717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26" r="1626" b="3253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1749037-E4EE-3AB2-08E4-139429AAAE0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 rot="6070266">
            <a:off x="9498952" y="3505417"/>
            <a:ext cx="3448421" cy="3448421"/>
          </a:xfrm>
          <a:prstGeom prst="rect">
            <a:avLst/>
          </a:prstGeom>
        </p:spPr>
      </p:pic>
      <p:pic>
        <p:nvPicPr>
          <p:cNvPr id="7" name="Picture 6" descr="A black and white text&#10;&#10;AI-generated content may be incorrect.">
            <a:extLst>
              <a:ext uri="{FF2B5EF4-FFF2-40B4-BE49-F238E27FC236}">
                <a16:creationId xmlns:a16="http://schemas.microsoft.com/office/drawing/2014/main" id="{2695AC8F-ABFF-3858-172B-F90719C70D0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20700" y="313972"/>
            <a:ext cx="5755922" cy="12816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C15F2C3-9B13-EEA3-774A-C80A8156A6F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8088" y="2575931"/>
            <a:ext cx="9144000" cy="1023241"/>
          </a:xfrm>
        </p:spPr>
        <p:txBody>
          <a:bodyPr anchor="b"/>
          <a:lstStyle>
            <a:lvl1pPr algn="l">
              <a:defRPr sz="6000" b="1"/>
            </a:lvl1pPr>
          </a:lstStyle>
          <a:p>
            <a:r>
              <a:rPr lang="en-GB" dirty="0"/>
              <a:t>Divider Title</a:t>
            </a:r>
            <a:endParaRPr lang="en-HR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038D37A0-1C33-06B2-BB9A-59F9264395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8088" y="3599172"/>
            <a:ext cx="9144000" cy="1500187"/>
          </a:xfrm>
          <a:noFill/>
          <a:ln>
            <a:noFill/>
          </a:ln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183754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 Divi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BDB13CC-AB9F-C43D-91D1-1B404F5717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D80E83B-4F0D-229B-FE33-4AA526900E7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8088" y="2575931"/>
            <a:ext cx="9144000" cy="1023241"/>
          </a:xfrm>
        </p:spPr>
        <p:txBody>
          <a:bodyPr anchor="b"/>
          <a:lstStyle>
            <a:lvl1pPr algn="l">
              <a:defRPr sz="6000" b="1"/>
            </a:lvl1pPr>
          </a:lstStyle>
          <a:p>
            <a:r>
              <a:rPr lang="en-GB" dirty="0"/>
              <a:t>Divider Title</a:t>
            </a:r>
            <a:endParaRPr lang="en-HR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0DB05E1-D5BA-ABB8-8E27-09F0C62382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8088" y="3599172"/>
            <a:ext cx="9144000" cy="1500187"/>
          </a:xfrm>
          <a:noFill/>
          <a:ln>
            <a:noFill/>
          </a:ln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8F725A5-981E-0B3E-713B-452218E0E78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 rot="6070266">
            <a:off x="9498952" y="3505417"/>
            <a:ext cx="3448421" cy="344842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3A8D3C3-93FC-8EE5-210E-BB315794D7E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520700" y="5241572"/>
            <a:ext cx="5755922" cy="1281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192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 Divider_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0E83B-4F0D-229B-FE33-4AA526900E7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8088" y="2575931"/>
            <a:ext cx="9144000" cy="1023241"/>
          </a:xfrm>
        </p:spPr>
        <p:txBody>
          <a:bodyPr anchor="b"/>
          <a:lstStyle>
            <a:lvl1pPr algn="l">
              <a:defRPr sz="6000" b="1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Divider Title</a:t>
            </a:r>
            <a:endParaRPr lang="en-HR" dirty="0"/>
          </a:p>
        </p:txBody>
      </p:sp>
      <p:pic>
        <p:nvPicPr>
          <p:cNvPr id="3" name="Picture 2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52DA24B3-F705-5043-A74B-F8B9EBCA872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6380" y="5991401"/>
            <a:ext cx="722971" cy="722971"/>
          </a:xfrm>
          <a:prstGeom prst="rect">
            <a:avLst/>
          </a:prstGeom>
        </p:spPr>
      </p:pic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0DB05E1-D5BA-ABB8-8E27-09F0C62382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8088" y="3599172"/>
            <a:ext cx="9144000" cy="1500187"/>
          </a:xfrm>
          <a:noFill/>
          <a:ln>
            <a:noFill/>
          </a:ln>
        </p:spPr>
        <p:txBody>
          <a:bodyPr/>
          <a:lstStyle>
            <a:lvl1pPr marL="0" indent="0">
              <a:buNone/>
              <a:defRPr sz="2400">
                <a:solidFill>
                  <a:srgbClr val="FFC000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5D91323-3CDB-E347-7CBC-FA53C5EF400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 rot="6070266">
            <a:off x="9498952" y="3505417"/>
            <a:ext cx="3448421" cy="34484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1044A39-7074-AF41-0235-E3577757D98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520700" y="313972"/>
            <a:ext cx="5755922" cy="1281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2269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0D07583-F491-E8B9-39E3-E5B85CDD7C1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D947D0AF-840E-8B01-B965-2CCA5C5D1F8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26380" y="5991401"/>
            <a:ext cx="722971" cy="72297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8D1EAA5-3CF0-ED0E-4888-98108043E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CE9547-7D5A-0F0B-8933-2BEE1CB9BD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buClr>
                <a:schemeClr val="tx1"/>
              </a:buClr>
              <a:defRPr>
                <a:solidFill>
                  <a:srgbClr val="000000"/>
                </a:solidFill>
              </a:defRPr>
            </a:lvl1pPr>
            <a:lvl2pPr>
              <a:lnSpc>
                <a:spcPct val="100000"/>
              </a:lnSpc>
              <a:buClr>
                <a:schemeClr val="tx1"/>
              </a:buClr>
              <a:defRPr>
                <a:solidFill>
                  <a:srgbClr val="000000"/>
                </a:solidFill>
              </a:defRPr>
            </a:lvl2pPr>
            <a:lvl3pPr>
              <a:lnSpc>
                <a:spcPct val="100000"/>
              </a:lnSpc>
              <a:buClr>
                <a:schemeClr val="tx1"/>
              </a:buClr>
              <a:defRPr>
                <a:solidFill>
                  <a:srgbClr val="000000"/>
                </a:solidFill>
              </a:defRPr>
            </a:lvl3pPr>
            <a:lvl4pPr>
              <a:lnSpc>
                <a:spcPct val="100000"/>
              </a:lnSpc>
              <a:buClr>
                <a:schemeClr val="tx1"/>
              </a:buClr>
              <a:defRPr>
                <a:solidFill>
                  <a:srgbClr val="000000"/>
                </a:solidFill>
              </a:defRPr>
            </a:lvl4pPr>
            <a:lvl5pPr>
              <a:lnSpc>
                <a:spcPct val="100000"/>
              </a:lnSpc>
              <a:buClr>
                <a:schemeClr val="tx1"/>
              </a:buCl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HR" dirty="0"/>
          </a:p>
        </p:txBody>
      </p:sp>
    </p:spTree>
    <p:extLst>
      <p:ext uri="{BB962C8B-B14F-4D97-AF65-F5344CB8AC3E}">
        <p14:creationId xmlns:p14="http://schemas.microsoft.com/office/powerpoint/2010/main" val="13106734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0D07583-F491-E8B9-39E3-E5B85CDD7C1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D947D0AF-840E-8B01-B965-2CCA5C5D1F8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26380" y="5991401"/>
            <a:ext cx="722971" cy="72297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8D1EAA5-3CF0-ED0E-4888-98108043E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R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102FDB8-CE7B-2752-3FB7-E9F361DFB63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 rot="13108102">
            <a:off x="9852349" y="4602154"/>
            <a:ext cx="2778493" cy="277849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CE9547-7D5A-0F0B-8933-2BEE1CB9BD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buClr>
                <a:schemeClr val="tx1"/>
              </a:buClr>
              <a:defRPr/>
            </a:lvl1pPr>
            <a:lvl2pPr>
              <a:lnSpc>
                <a:spcPct val="100000"/>
              </a:lnSpc>
              <a:buClr>
                <a:schemeClr val="tx1"/>
              </a:buClr>
              <a:defRPr/>
            </a:lvl2pPr>
            <a:lvl3pPr>
              <a:lnSpc>
                <a:spcPct val="100000"/>
              </a:lnSpc>
              <a:buClr>
                <a:schemeClr val="tx1"/>
              </a:buClr>
              <a:defRPr/>
            </a:lvl3pPr>
            <a:lvl4pPr>
              <a:lnSpc>
                <a:spcPct val="100000"/>
              </a:lnSpc>
              <a:buClr>
                <a:schemeClr val="tx1"/>
              </a:buClr>
              <a:defRPr/>
            </a:lvl4pPr>
            <a:lvl5pPr>
              <a:lnSpc>
                <a:spcPct val="100000"/>
              </a:lnSpc>
              <a:buClr>
                <a:schemeClr val="tx1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HR" dirty="0"/>
          </a:p>
        </p:txBody>
      </p:sp>
    </p:spTree>
    <p:extLst>
      <p:ext uri="{BB962C8B-B14F-4D97-AF65-F5344CB8AC3E}">
        <p14:creationId xmlns:p14="http://schemas.microsoft.com/office/powerpoint/2010/main" val="37821263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_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D947D0AF-840E-8B01-B965-2CCA5C5D1F8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6380" y="5991401"/>
            <a:ext cx="722971" cy="72297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8D1EAA5-3CF0-ED0E-4888-98108043E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H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CE9547-7D5A-0F0B-8933-2BEE1CB9BD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buClr>
                <a:srgbClr val="FFC000"/>
              </a:buClr>
              <a:defRPr/>
            </a:lvl1pPr>
            <a:lvl2pPr>
              <a:lnSpc>
                <a:spcPct val="100000"/>
              </a:lnSpc>
              <a:buClr>
                <a:srgbClr val="FFC000"/>
              </a:buClr>
              <a:defRPr/>
            </a:lvl2pPr>
            <a:lvl3pPr>
              <a:lnSpc>
                <a:spcPct val="100000"/>
              </a:lnSpc>
              <a:buClr>
                <a:srgbClr val="FFC000"/>
              </a:buClr>
              <a:defRPr/>
            </a:lvl3pPr>
            <a:lvl4pPr>
              <a:lnSpc>
                <a:spcPct val="100000"/>
              </a:lnSpc>
              <a:buClr>
                <a:srgbClr val="FFC000"/>
              </a:buClr>
              <a:defRPr/>
            </a:lvl4pPr>
            <a:lvl5pPr>
              <a:lnSpc>
                <a:spcPct val="100000"/>
              </a:lnSpc>
              <a:buClr>
                <a:srgbClr val="FFC000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HR" dirty="0"/>
          </a:p>
        </p:txBody>
      </p:sp>
      <p:pic>
        <p:nvPicPr>
          <p:cNvPr id="5" name="Picture 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7672E26-063E-E2B7-1F0C-22CA95E3B0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5229" y="5991401"/>
            <a:ext cx="722971" cy="722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80283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2_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C0D75AF-0B91-394C-3B63-726C1FF96BE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 rot="13108102">
            <a:off x="9852349" y="4602154"/>
            <a:ext cx="2778493" cy="2778493"/>
          </a:xfrm>
          <a:prstGeom prst="rect">
            <a:avLst/>
          </a:prstGeom>
        </p:spPr>
      </p:pic>
      <p:pic>
        <p:nvPicPr>
          <p:cNvPr id="8" name="Picture 7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D947D0AF-840E-8B01-B965-2CCA5C5D1F8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26380" y="5991401"/>
            <a:ext cx="722971" cy="72297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8D1EAA5-3CF0-ED0E-4888-98108043E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CE9547-7D5A-0F0B-8933-2BEE1CB9BD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buClr>
                <a:srgbClr val="FFC000"/>
              </a:buClr>
              <a:defRPr/>
            </a:lvl1pPr>
            <a:lvl2pPr>
              <a:lnSpc>
                <a:spcPct val="100000"/>
              </a:lnSpc>
              <a:buClr>
                <a:srgbClr val="FFC000"/>
              </a:buClr>
              <a:defRPr/>
            </a:lvl2pPr>
            <a:lvl3pPr>
              <a:lnSpc>
                <a:spcPct val="100000"/>
              </a:lnSpc>
              <a:buClr>
                <a:srgbClr val="FFC000"/>
              </a:buClr>
              <a:defRPr/>
            </a:lvl3pPr>
            <a:lvl4pPr>
              <a:lnSpc>
                <a:spcPct val="100000"/>
              </a:lnSpc>
              <a:buClr>
                <a:srgbClr val="FFC000"/>
              </a:buClr>
              <a:defRPr/>
            </a:lvl4pPr>
            <a:lvl5pPr>
              <a:lnSpc>
                <a:spcPct val="100000"/>
              </a:lnSpc>
              <a:buClr>
                <a:srgbClr val="FFC000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HR" dirty="0"/>
          </a:p>
        </p:txBody>
      </p:sp>
      <p:pic>
        <p:nvPicPr>
          <p:cNvPr id="5" name="Picture 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7672E26-063E-E2B7-1F0C-22CA95E3B0B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5229" y="5991401"/>
            <a:ext cx="722971" cy="722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0789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1426264-598F-20C4-808F-C656D745EC1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2079A7A9-7A45-6EF1-44DD-58319C74527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26380" y="5991401"/>
            <a:ext cx="722971" cy="72297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BE04F0E-52CD-1C91-2FA6-6A7042850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2D5CFD-1DA9-F5A6-AE78-1FC394368B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lnSpc>
                <a:spcPct val="100000"/>
              </a:lnSpc>
              <a:buClr>
                <a:schemeClr val="tx1"/>
              </a:buClr>
              <a:defRPr/>
            </a:lvl1pPr>
            <a:lvl2pPr>
              <a:lnSpc>
                <a:spcPct val="100000"/>
              </a:lnSpc>
              <a:buClr>
                <a:schemeClr val="tx1"/>
              </a:buClr>
              <a:defRPr/>
            </a:lvl2pPr>
            <a:lvl3pPr>
              <a:lnSpc>
                <a:spcPct val="100000"/>
              </a:lnSpc>
              <a:buClr>
                <a:schemeClr val="tx1"/>
              </a:buClr>
              <a:defRPr/>
            </a:lvl3pPr>
            <a:lvl4pPr>
              <a:lnSpc>
                <a:spcPct val="100000"/>
              </a:lnSpc>
              <a:buClr>
                <a:schemeClr val="tx1"/>
              </a:buClr>
              <a:defRPr/>
            </a:lvl4pPr>
            <a:lvl5pPr>
              <a:lnSpc>
                <a:spcPct val="100000"/>
              </a:lnSpc>
              <a:buClr>
                <a:schemeClr val="tx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R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DE168A-3F4F-B0BB-0437-35013F765A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lnSpc>
                <a:spcPct val="100000"/>
              </a:lnSpc>
              <a:buClr>
                <a:schemeClr val="tx1"/>
              </a:buClr>
              <a:defRPr/>
            </a:lvl1pPr>
            <a:lvl2pPr>
              <a:lnSpc>
                <a:spcPct val="100000"/>
              </a:lnSpc>
              <a:buClr>
                <a:schemeClr val="tx1"/>
              </a:buClr>
              <a:defRPr/>
            </a:lvl2pPr>
            <a:lvl3pPr>
              <a:lnSpc>
                <a:spcPct val="100000"/>
              </a:lnSpc>
              <a:buClr>
                <a:schemeClr val="tx1"/>
              </a:buClr>
              <a:defRPr/>
            </a:lvl3pPr>
            <a:lvl4pPr>
              <a:lnSpc>
                <a:spcPct val="100000"/>
              </a:lnSpc>
              <a:buClr>
                <a:schemeClr val="tx1"/>
              </a:buClr>
              <a:defRPr/>
            </a:lvl4pPr>
            <a:lvl5pPr>
              <a:lnSpc>
                <a:spcPct val="100000"/>
              </a:lnSpc>
              <a:buClr>
                <a:schemeClr val="tx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R"/>
          </a:p>
        </p:txBody>
      </p:sp>
    </p:spTree>
    <p:extLst>
      <p:ext uri="{BB962C8B-B14F-4D97-AF65-F5344CB8AC3E}">
        <p14:creationId xmlns:p14="http://schemas.microsoft.com/office/powerpoint/2010/main" val="26747054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1426264-598F-20C4-808F-C656D745EC1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2079A7A9-7A45-6EF1-44DD-58319C74527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26380" y="5991401"/>
            <a:ext cx="722971" cy="72297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BE04F0E-52CD-1C91-2FA6-6A7042850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2D5CFD-1DA9-F5A6-AE78-1FC394368B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lnSpc>
                <a:spcPct val="100000"/>
              </a:lnSpc>
              <a:buClr>
                <a:schemeClr val="tx1"/>
              </a:buClr>
              <a:defRPr/>
            </a:lvl1pPr>
            <a:lvl2pPr>
              <a:lnSpc>
                <a:spcPct val="100000"/>
              </a:lnSpc>
              <a:buClr>
                <a:schemeClr val="tx1"/>
              </a:buClr>
              <a:defRPr/>
            </a:lvl2pPr>
            <a:lvl3pPr>
              <a:lnSpc>
                <a:spcPct val="100000"/>
              </a:lnSpc>
              <a:buClr>
                <a:schemeClr val="tx1"/>
              </a:buClr>
              <a:defRPr/>
            </a:lvl3pPr>
            <a:lvl4pPr>
              <a:lnSpc>
                <a:spcPct val="100000"/>
              </a:lnSpc>
              <a:buClr>
                <a:schemeClr val="tx1"/>
              </a:buClr>
              <a:defRPr/>
            </a:lvl4pPr>
            <a:lvl5pPr>
              <a:lnSpc>
                <a:spcPct val="100000"/>
              </a:lnSpc>
              <a:buClr>
                <a:schemeClr val="tx1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H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EECF0B-979F-8B5C-7A68-C80D71BF825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 rot="13108102">
            <a:off x="9852349" y="4602154"/>
            <a:ext cx="2778493" cy="2778493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DE168A-3F4F-B0BB-0437-35013F765A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lnSpc>
                <a:spcPct val="100000"/>
              </a:lnSpc>
              <a:buClr>
                <a:schemeClr val="tx1"/>
              </a:buClr>
              <a:defRPr/>
            </a:lvl1pPr>
            <a:lvl2pPr>
              <a:lnSpc>
                <a:spcPct val="100000"/>
              </a:lnSpc>
              <a:buClr>
                <a:schemeClr val="tx1"/>
              </a:buClr>
              <a:defRPr/>
            </a:lvl2pPr>
            <a:lvl3pPr>
              <a:lnSpc>
                <a:spcPct val="100000"/>
              </a:lnSpc>
              <a:buClr>
                <a:schemeClr val="tx1"/>
              </a:buClr>
              <a:defRPr/>
            </a:lvl3pPr>
            <a:lvl4pPr>
              <a:lnSpc>
                <a:spcPct val="100000"/>
              </a:lnSpc>
              <a:buClr>
                <a:schemeClr val="tx1"/>
              </a:buClr>
              <a:defRPr/>
            </a:lvl4pPr>
            <a:lvl5pPr>
              <a:lnSpc>
                <a:spcPct val="100000"/>
              </a:lnSpc>
              <a:buClr>
                <a:schemeClr val="tx1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HR" dirty="0"/>
          </a:p>
        </p:txBody>
      </p:sp>
    </p:spTree>
    <p:extLst>
      <p:ext uri="{BB962C8B-B14F-4D97-AF65-F5344CB8AC3E}">
        <p14:creationId xmlns:p14="http://schemas.microsoft.com/office/powerpoint/2010/main" val="289907138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_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04F0E-52CD-1C91-2FA6-6A7042850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2D5CFD-1DA9-F5A6-AE78-1FC394368B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lnSpc>
                <a:spcPct val="100000"/>
              </a:lnSpc>
              <a:buClr>
                <a:srgbClr val="FFC000"/>
              </a:buClr>
              <a:defRPr/>
            </a:lvl1pPr>
            <a:lvl2pPr>
              <a:lnSpc>
                <a:spcPct val="100000"/>
              </a:lnSpc>
              <a:buClr>
                <a:srgbClr val="FFC000"/>
              </a:buClr>
              <a:defRPr/>
            </a:lvl2pPr>
            <a:lvl3pPr>
              <a:lnSpc>
                <a:spcPct val="100000"/>
              </a:lnSpc>
              <a:buClr>
                <a:srgbClr val="FFC000"/>
              </a:buClr>
              <a:defRPr/>
            </a:lvl3pPr>
            <a:lvl4pPr>
              <a:lnSpc>
                <a:spcPct val="100000"/>
              </a:lnSpc>
              <a:buClr>
                <a:srgbClr val="FFC000"/>
              </a:buClr>
              <a:defRPr/>
            </a:lvl4pPr>
            <a:lvl5pPr>
              <a:lnSpc>
                <a:spcPct val="100000"/>
              </a:lnSpc>
              <a:buClr>
                <a:srgbClr val="FFC000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HR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DE168A-3F4F-B0BB-0437-35013F765A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lnSpc>
                <a:spcPct val="100000"/>
              </a:lnSpc>
              <a:buClr>
                <a:srgbClr val="FFC000"/>
              </a:buClr>
              <a:defRPr/>
            </a:lvl1pPr>
            <a:lvl2pPr>
              <a:lnSpc>
                <a:spcPct val="100000"/>
              </a:lnSpc>
              <a:buClr>
                <a:srgbClr val="FFC000"/>
              </a:buClr>
              <a:defRPr/>
            </a:lvl2pPr>
            <a:lvl3pPr>
              <a:lnSpc>
                <a:spcPct val="100000"/>
              </a:lnSpc>
              <a:buClr>
                <a:srgbClr val="FFC000"/>
              </a:buClr>
              <a:defRPr/>
            </a:lvl3pPr>
            <a:lvl4pPr>
              <a:lnSpc>
                <a:spcPct val="100000"/>
              </a:lnSpc>
              <a:buClr>
                <a:srgbClr val="FFC000"/>
              </a:buClr>
              <a:defRPr/>
            </a:lvl4pPr>
            <a:lvl5pPr>
              <a:lnSpc>
                <a:spcPct val="100000"/>
              </a:lnSpc>
              <a:buClr>
                <a:srgbClr val="FFC000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HR" dirty="0"/>
          </a:p>
        </p:txBody>
      </p:sp>
      <p:pic>
        <p:nvPicPr>
          <p:cNvPr id="5" name="Picture 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21BA527-D9F0-D8CF-D62F-C436D520CB2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229" y="5991401"/>
            <a:ext cx="722971" cy="722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03634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2_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04F0E-52CD-1C91-2FA6-6A7042850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2D5CFD-1DA9-F5A6-AE78-1FC394368B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lnSpc>
                <a:spcPct val="100000"/>
              </a:lnSpc>
              <a:buClr>
                <a:srgbClr val="FFC000"/>
              </a:buClr>
              <a:defRPr/>
            </a:lvl1pPr>
            <a:lvl2pPr>
              <a:lnSpc>
                <a:spcPct val="100000"/>
              </a:lnSpc>
              <a:buClr>
                <a:srgbClr val="FFC000"/>
              </a:buClr>
              <a:defRPr/>
            </a:lvl2pPr>
            <a:lvl3pPr>
              <a:lnSpc>
                <a:spcPct val="100000"/>
              </a:lnSpc>
              <a:buClr>
                <a:srgbClr val="FFC000"/>
              </a:buClr>
              <a:defRPr/>
            </a:lvl3pPr>
            <a:lvl4pPr>
              <a:lnSpc>
                <a:spcPct val="100000"/>
              </a:lnSpc>
              <a:buClr>
                <a:srgbClr val="FFC000"/>
              </a:buClr>
              <a:defRPr/>
            </a:lvl4pPr>
            <a:lvl5pPr>
              <a:lnSpc>
                <a:spcPct val="100000"/>
              </a:lnSpc>
              <a:buClr>
                <a:srgbClr val="FFC000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HR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891FF0-2CE5-A04F-5BBD-E2BCBFB05D9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 rot="13108102">
            <a:off x="9852349" y="4602154"/>
            <a:ext cx="2778493" cy="2778493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DE168A-3F4F-B0BB-0437-35013F765A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lnSpc>
                <a:spcPct val="100000"/>
              </a:lnSpc>
              <a:buClr>
                <a:srgbClr val="FFC000"/>
              </a:buClr>
              <a:defRPr/>
            </a:lvl1pPr>
            <a:lvl2pPr>
              <a:lnSpc>
                <a:spcPct val="100000"/>
              </a:lnSpc>
              <a:buClr>
                <a:srgbClr val="FFC000"/>
              </a:buClr>
              <a:defRPr/>
            </a:lvl2pPr>
            <a:lvl3pPr>
              <a:lnSpc>
                <a:spcPct val="100000"/>
              </a:lnSpc>
              <a:buClr>
                <a:srgbClr val="FFC000"/>
              </a:buClr>
              <a:defRPr/>
            </a:lvl3pPr>
            <a:lvl4pPr>
              <a:lnSpc>
                <a:spcPct val="100000"/>
              </a:lnSpc>
              <a:buClr>
                <a:srgbClr val="FFC000"/>
              </a:buClr>
              <a:defRPr/>
            </a:lvl4pPr>
            <a:lvl5pPr>
              <a:lnSpc>
                <a:spcPct val="100000"/>
              </a:lnSpc>
              <a:buClr>
                <a:srgbClr val="FFC000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HR" dirty="0"/>
          </a:p>
        </p:txBody>
      </p:sp>
      <p:pic>
        <p:nvPicPr>
          <p:cNvPr id="5" name="Picture 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21BA527-D9F0-D8CF-D62F-C436D520CB2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5229" y="5991401"/>
            <a:ext cx="722971" cy="722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30704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A59E0E4-FD49-FB18-D552-5FE0044153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B7FF8BA1-1273-072C-58D5-C1FB41B4309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26380" y="5991401"/>
            <a:ext cx="722971" cy="72297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354541C-5000-462E-8344-4068F941C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R"/>
          </a:p>
        </p:txBody>
      </p:sp>
    </p:spTree>
    <p:extLst>
      <p:ext uri="{BB962C8B-B14F-4D97-AF65-F5344CB8AC3E}">
        <p14:creationId xmlns:p14="http://schemas.microsoft.com/office/powerpoint/2010/main" val="340519577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A59E0E4-FD49-FB18-D552-5FE0044153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B7FF8BA1-1273-072C-58D5-C1FB41B4309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26380" y="5991401"/>
            <a:ext cx="722971" cy="72297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354541C-5000-462E-8344-4068F941C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R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373358-EE4F-A635-8BD8-1173B81453C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 rot="13108102">
            <a:off x="9852349" y="4602154"/>
            <a:ext cx="2778493" cy="2778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83330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_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4541C-5000-462E-8344-4068F941C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R"/>
          </a:p>
        </p:txBody>
      </p:sp>
      <p:pic>
        <p:nvPicPr>
          <p:cNvPr id="3" name="Picture 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2F95C8B9-902D-16C0-0A76-0A53453EA15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229" y="5991401"/>
            <a:ext cx="722971" cy="722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87125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2_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4541C-5000-462E-8344-4068F941C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R"/>
          </a:p>
        </p:txBody>
      </p:sp>
      <p:pic>
        <p:nvPicPr>
          <p:cNvPr id="3" name="Picture 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2F95C8B9-902D-16C0-0A76-0A53453EA15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229" y="5991401"/>
            <a:ext cx="722971" cy="7229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BD0D962-EA34-A3BE-11EC-4DC65EBA063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 rot="13108102">
            <a:off x="9852349" y="4602154"/>
            <a:ext cx="2778493" cy="2778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20366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AF5B540-EF9D-1F81-6EB8-88CBA5E1C61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2A6F4A0E-1B68-0793-F26F-5DC1B124417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26380" y="5991401"/>
            <a:ext cx="722971" cy="722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52852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BDB13CC-AB9F-C43D-91D1-1B404F5717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4011AC08-E37E-64E7-8C83-3AD1BF1F15F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26380" y="5991401"/>
            <a:ext cx="722971" cy="722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9609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BDB13CC-AB9F-C43D-91D1-1B404F5717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931D279F-1C05-73CF-04EB-DCAF5E24D3E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26380" y="5991401"/>
            <a:ext cx="722971" cy="722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36073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e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BDB13CC-AB9F-C43D-91D1-1B404F5717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624F393-B445-CF8B-AE81-AF2A35D34AB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9091" b="18661"/>
          <a:stretch>
            <a:fillRect/>
          </a:stretch>
        </p:blipFill>
        <p:spPr>
          <a:xfrm>
            <a:off x="0" y="721971"/>
            <a:ext cx="12192000" cy="6136030"/>
          </a:xfrm>
          <a:prstGeom prst="rect">
            <a:avLst/>
          </a:prstGeom>
        </p:spPr>
      </p:pic>
      <p:pic>
        <p:nvPicPr>
          <p:cNvPr id="2" name="Picture 1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93DFC41F-64FD-D50A-CAED-C544E49AED3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26380" y="5991401"/>
            <a:ext cx="722971" cy="722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03363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ert_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E24BD24-160A-9F0B-ADA9-30BF0A94A7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9091" b="18661"/>
          <a:stretch>
            <a:fillRect/>
          </a:stretch>
        </p:blipFill>
        <p:spPr>
          <a:xfrm>
            <a:off x="0" y="721971"/>
            <a:ext cx="12192000" cy="6136030"/>
          </a:xfrm>
          <a:prstGeom prst="rect">
            <a:avLst/>
          </a:prstGeom>
        </p:spPr>
      </p:pic>
      <p:pic>
        <p:nvPicPr>
          <p:cNvPr id="4" name="Picture 3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981F92DD-D2B6-E6A6-1591-66D47B1AE58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26380" y="5991401"/>
            <a:ext cx="722971" cy="722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09844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4EAD028-E5A0-E470-5605-4ED813BDA08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8B31DB39-3499-42E0-2421-26D142D974A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26380" y="5991401"/>
            <a:ext cx="722971" cy="72297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7AE9B80-8AE5-4542-622A-696AF32FD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8E708-4BE9-E141-3ADD-66F8363256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HR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9227C5-155F-A2CF-427E-6E9E15035A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2189284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D7D7E83-0FBC-0CD9-2BD4-71E8E211402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B6B44B3B-CA0D-0A00-BC42-4629FC4C1AC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26380" y="5991401"/>
            <a:ext cx="722971" cy="72297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8BCC845-8486-3FED-0C37-384495F39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H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5DE7B7-B550-2F31-5841-473907B49D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H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D65548-6158-3199-4DCC-1C862E1634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6510514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0A792786-C25E-C687-A4E6-70CCC5024A4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229" y="5991401"/>
            <a:ext cx="722971" cy="722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941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D6738F-884C-8F5C-8DE4-8E53B34CE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HR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D6E910-C357-0D70-251E-39E141A62E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HR" dirty="0"/>
          </a:p>
        </p:txBody>
      </p:sp>
    </p:spTree>
    <p:extLst>
      <p:ext uri="{BB962C8B-B14F-4D97-AF65-F5344CB8AC3E}">
        <p14:creationId xmlns:p14="http://schemas.microsoft.com/office/powerpoint/2010/main" val="2364810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0" r:id="rId2"/>
    <p:sldLayoutId id="2147483661" r:id="rId3"/>
    <p:sldLayoutId id="2147483664" r:id="rId4"/>
    <p:sldLayoutId id="2147483665" r:id="rId5"/>
    <p:sldLayoutId id="2147483678" r:id="rId6"/>
    <p:sldLayoutId id="2147483679" r:id="rId7"/>
    <p:sldLayoutId id="2147483662" r:id="rId8"/>
    <p:sldLayoutId id="2147483684" r:id="rId9"/>
    <p:sldLayoutId id="2147483688" r:id="rId10"/>
    <p:sldLayoutId id="2147483674" r:id="rId11"/>
    <p:sldLayoutId id="2147483686" r:id="rId12"/>
    <p:sldLayoutId id="2147483669" r:id="rId13"/>
    <p:sldLayoutId id="2147483675" r:id="rId14"/>
    <p:sldLayoutId id="2147483650" r:id="rId15"/>
    <p:sldLayoutId id="2147483667" r:id="rId16"/>
    <p:sldLayoutId id="2147483676" r:id="rId17"/>
    <p:sldLayoutId id="2147483668" r:id="rId18"/>
    <p:sldLayoutId id="2147483670" r:id="rId19"/>
    <p:sldLayoutId id="2147483652" r:id="rId20"/>
    <p:sldLayoutId id="2147483681" r:id="rId21"/>
    <p:sldLayoutId id="2147483671" r:id="rId22"/>
    <p:sldLayoutId id="2147483654" r:id="rId23"/>
    <p:sldLayoutId id="2147483672" r:id="rId24"/>
    <p:sldLayoutId id="2147483673" r:id="rId25"/>
    <p:sldLayoutId id="2147483677" r:id="rId26"/>
    <p:sldLayoutId id="2147483655" r:id="rId27"/>
    <p:sldLayoutId id="2147483666" r:id="rId28"/>
    <p:sldLayoutId id="2147483683" r:id="rId29"/>
    <p:sldLayoutId id="2147483663" r:id="rId30"/>
    <p:sldLayoutId id="2147483682" r:id="rId31"/>
    <p:sldLayoutId id="2147483656" r:id="rId32"/>
    <p:sldLayoutId id="2147483657" r:id="rId33"/>
    <p:sldLayoutId id="2147483689" r:id="rId3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1"/>
          </a:solidFill>
          <a:latin typeface="DIN Mittelschrift" panose="02000503040000020003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DIN Mittelschrift" panose="02000503040000020003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DIN Mittelschrift" panose="02000503040000020003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DIN Mittelschrift" panose="02000503040000020003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DIN Mittelschrift" panose="02000503040000020003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DIN Mittelschrift" panose="02000503040000020003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H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5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5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73152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lang="en-US" dirty="0">
                <a:solidFill>
                  <a:srgbClr val="FFC000"/>
                </a:solidFill>
              </a:rPr>
              <a:t>From Idea to Production: The Build Is Sacred in Dynamics 365 F&amp;O</a:t>
            </a:r>
            <a:endParaRPr dirty="0">
              <a:solidFill>
                <a:srgbClr val="FFC000"/>
              </a:solidFill>
              <a:highlight>
                <a:srgbClr val="FFFF00"/>
              </a:highlight>
            </a:endParaRPr>
          </a:p>
          <a:p>
            <a:pPr algn="l">
              <a:defRPr sz="2000">
                <a:solidFill>
                  <a:srgbClr val="FFFFFF"/>
                </a:solidFill>
              </a:defRPr>
            </a:pPr>
            <a:r>
              <a:rPr dirty="0">
                <a:solidFill>
                  <a:srgbClr val="FFC000"/>
                </a:solidFill>
              </a:rPr>
              <a:t>Automated F&amp;O Package Promotion from Commit to 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Placeholder 17">
            <a:extLst>
              <a:ext uri="{FF2B5EF4-FFF2-40B4-BE49-F238E27FC236}">
                <a16:creationId xmlns:a16="http://schemas.microsoft.com/office/drawing/2014/main" id="{4F8F899B-533F-15EC-0A56-20CCD07CE6C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384" r="384"/>
          <a:stretch>
            <a:fillRect/>
          </a:stretch>
        </p:blipFill>
        <p:spPr>
          <a:prstGeom prst="ellipse">
            <a:avLst/>
          </a:prstGeom>
          <a:ln w="57150">
            <a:solidFill>
              <a:srgbClr val="F5D420"/>
            </a:solidFill>
          </a:ln>
        </p:spPr>
      </p:pic>
      <p:pic>
        <p:nvPicPr>
          <p:cNvPr id="20" name="Picture Placeholder 19">
            <a:extLst>
              <a:ext uri="{FF2B5EF4-FFF2-40B4-BE49-F238E27FC236}">
                <a16:creationId xmlns:a16="http://schemas.microsoft.com/office/drawing/2014/main" id="{8EFD31C6-9C55-0B0A-9402-37DDDFB213FA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4"/>
          <a:srcRect l="384" r="384"/>
          <a:stretch>
            <a:fillRect/>
          </a:stretch>
        </p:blipFill>
        <p:spPr>
          <a:prstGeom prst="ellipse">
            <a:avLst/>
          </a:prstGeom>
          <a:ln w="57150">
            <a:solidFill>
              <a:srgbClr val="F5D420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07CC699-9188-9B72-58E3-9D58F67046DE}"/>
              </a:ext>
            </a:extLst>
          </p:cNvPr>
          <p:cNvSpPr txBox="1"/>
          <p:nvPr/>
        </p:nvSpPr>
        <p:spPr>
          <a:xfrm>
            <a:off x="4476750" y="1339850"/>
            <a:ext cx="38798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Lane Swenka</a:t>
            </a:r>
          </a:p>
          <a:p>
            <a:pPr algn="r"/>
            <a:r>
              <a:rPr lang="en-US" dirty="0"/>
              <a:t>Microsoft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962D111-E09B-83DD-78B2-8668FCF361F1}"/>
              </a:ext>
            </a:extLst>
          </p:cNvPr>
          <p:cNvSpPr txBox="1"/>
          <p:nvPr/>
        </p:nvSpPr>
        <p:spPr>
          <a:xfrm>
            <a:off x="4578350" y="4024204"/>
            <a:ext cx="38798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Nathan Clouse</a:t>
            </a:r>
          </a:p>
          <a:p>
            <a:pPr algn="r"/>
            <a:r>
              <a:rPr lang="en-US" dirty="0"/>
              <a:t>HSO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/>
            </a:pPr>
            <a:r>
              <a:rPr sz="3200" dirty="0"/>
              <a:t>"How many of you have deployed a package to production</a:t>
            </a:r>
            <a:r>
              <a:rPr lang="en-US" sz="3200" dirty="0"/>
              <a:t> </a:t>
            </a:r>
            <a:r>
              <a:rPr sz="3200" dirty="0"/>
              <a:t>and weren't 100% sure it was the same binary</a:t>
            </a:r>
            <a:r>
              <a:rPr lang="en-US" sz="3200" dirty="0"/>
              <a:t> </a:t>
            </a:r>
            <a:r>
              <a:rPr sz="3200" dirty="0"/>
              <a:t>that passed UAT?"</a:t>
            </a:r>
          </a:p>
          <a:p>
            <a:pPr>
              <a:defRPr sz="2000"/>
            </a:pPr>
            <a:endParaRPr sz="3200" dirty="0"/>
          </a:p>
          <a:p>
            <a:pPr>
              <a:defRPr sz="2000"/>
            </a:pPr>
            <a:r>
              <a:rPr sz="3200" dirty="0"/>
              <a:t>The promise: one artifact, created once,</a:t>
            </a:r>
            <a:r>
              <a:rPr lang="en-US" sz="3200" dirty="0"/>
              <a:t> </a:t>
            </a:r>
            <a:r>
              <a:rPr sz="3200" dirty="0"/>
              <a:t>carried forward untouched — or rolled back with certainty.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WE'LL COVER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pPr>
              <a:defRPr sz="1800"/>
            </a:pPr>
            <a:r>
              <a:rPr sz="3200" dirty="0"/>
              <a:t>Immutable packaging and durable versioning</a:t>
            </a:r>
          </a:p>
          <a:p>
            <a:pPr>
              <a:defRPr sz="1800"/>
            </a:pPr>
            <a:r>
              <a:rPr sz="3200" dirty="0"/>
              <a:t>Artifact promotion through environments</a:t>
            </a:r>
          </a:p>
          <a:p>
            <a:pPr>
              <a:defRPr sz="1800"/>
            </a:pPr>
            <a:r>
              <a:rPr sz="3200" dirty="0"/>
              <a:t>Structural enforcement (not just process)</a:t>
            </a:r>
          </a:p>
          <a:p>
            <a:pPr>
              <a:defRPr sz="1800"/>
            </a:pPr>
            <a:r>
              <a:rPr sz="3200" dirty="0"/>
              <a:t>Full environment automation via PPAC</a:t>
            </a:r>
          </a:p>
          <a:p>
            <a:pPr>
              <a:defRPr sz="1800"/>
            </a:pPr>
            <a:endParaRPr sz="3200" dirty="0"/>
          </a:p>
          <a:p>
            <a:pPr>
              <a:defRPr sz="1800"/>
            </a:pPr>
            <a:r>
              <a:rPr sz="3200" dirty="0"/>
              <a:t>What we won't cover:</a:t>
            </a:r>
          </a:p>
          <a:p>
            <a:pPr>
              <a:defRPr sz="1800"/>
            </a:pPr>
            <a:r>
              <a:rPr sz="3200" dirty="0"/>
              <a:t>X++ patterns, Dataverse solutions, Power Platform ALM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BIG PICTURE</a:t>
            </a:r>
          </a:p>
        </p:txBody>
      </p:sp>
      <p:pic>
        <p:nvPicPr>
          <p:cNvPr id="3" name="Picture 2" descr="pipeline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6243" y="1371600"/>
            <a:ext cx="5259513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C3971-0609-1905-E9F3-F762933E6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pipeline-architecture.png">
            <a:extLst>
              <a:ext uri="{FF2B5EF4-FFF2-40B4-BE49-F238E27FC236}">
                <a16:creationId xmlns:a16="http://schemas.microsoft.com/office/drawing/2014/main" id="{42613A04-8B31-3E67-FA8E-AB393B2F3F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8201" y="-3380"/>
            <a:ext cx="7175597" cy="6861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85876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WHY LCS CAN'T GET YOU THERE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LCS was designed for a different era. The world move</a:t>
            </a:r>
            <a:r>
              <a:rPr lang="en-US" dirty="0"/>
              <a:t>s</a:t>
            </a:r>
            <a:r>
              <a:rPr dirty="0"/>
              <a:t> 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LCS vs WHAT WE WANT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defRPr sz="1600"/>
            </a:pPr>
            <a:r>
              <a:rPr dirty="0"/>
              <a:t>LCS Reality:</a:t>
            </a:r>
          </a:p>
          <a:p>
            <a:pPr lvl="1">
              <a:defRPr sz="1600"/>
            </a:pPr>
            <a:r>
              <a:rPr sz="2800" dirty="0"/>
              <a:t>Manual portal deployments</a:t>
            </a:r>
          </a:p>
          <a:p>
            <a:pPr lvl="1">
              <a:defRPr sz="1600"/>
            </a:pPr>
            <a:r>
              <a:rPr sz="2800" dirty="0"/>
              <a:t>Build VMs (~$500/</a:t>
            </a:r>
            <a:r>
              <a:rPr sz="2800" dirty="0" err="1"/>
              <a:t>mo</a:t>
            </a:r>
            <a:r>
              <a:rPr sz="2800" dirty="0"/>
              <a:t>)</a:t>
            </a:r>
          </a:p>
          <a:p>
            <a:pPr lvl="1">
              <a:defRPr sz="1600"/>
            </a:pPr>
            <a:r>
              <a:rPr sz="2800" dirty="0"/>
              <a:t>Upload to Asset Library</a:t>
            </a:r>
          </a:p>
          <a:p>
            <a:pPr lvl="1">
              <a:defRPr sz="1600"/>
            </a:pPr>
            <a:r>
              <a:rPr sz="2800" dirty="0"/>
              <a:t>No automated PR validation</a:t>
            </a:r>
          </a:p>
          <a:p>
            <a:pPr lvl="1">
              <a:defRPr sz="1600"/>
            </a:pPr>
            <a:r>
              <a:rPr sz="2800" dirty="0"/>
              <a:t>Portal provisioning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>
              <a:defRPr sz="1600"/>
            </a:pPr>
            <a:r>
              <a:rPr dirty="0"/>
              <a:t>What We Want:</a:t>
            </a:r>
          </a:p>
          <a:p>
            <a:pPr lvl="1">
              <a:defRPr sz="1600"/>
            </a:pPr>
            <a:r>
              <a:rPr sz="2800" dirty="0"/>
              <a:t>API-driven, pipeline-triggered</a:t>
            </a:r>
          </a:p>
          <a:p>
            <a:pPr lvl="1">
              <a:defRPr sz="1600"/>
            </a:pPr>
            <a:r>
              <a:rPr sz="2800" dirty="0"/>
              <a:t>Hosted agents, pay-per-minute</a:t>
            </a:r>
          </a:p>
          <a:p>
            <a:pPr lvl="1">
              <a:defRPr sz="1600"/>
            </a:pPr>
            <a:r>
              <a:rPr sz="2800" dirty="0"/>
              <a:t>One artifact flows untouched</a:t>
            </a:r>
          </a:p>
          <a:p>
            <a:pPr lvl="1">
              <a:defRPr sz="1600"/>
            </a:pPr>
            <a:r>
              <a:rPr sz="2800" dirty="0"/>
              <a:t>Full integration test on every PR</a:t>
            </a:r>
          </a:p>
          <a:p>
            <a:pPr lvl="1">
              <a:defRPr sz="1600"/>
            </a:pPr>
            <a:r>
              <a:rPr sz="2800" dirty="0"/>
              <a:t>Branch push = sandbox in minutes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LCS vs PPAC</a:t>
            </a:r>
          </a:p>
        </p:txBody>
      </p:sp>
      <p:pic>
        <p:nvPicPr>
          <p:cNvPr id="3" name="Picture 2" descr="lcs-vs-ppa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1550" y="1371600"/>
            <a:ext cx="26289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838A5-98B8-0E09-DEEB-82736537E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cs-vs-ppac.png">
            <a:extLst>
              <a:ext uri="{FF2B5EF4-FFF2-40B4-BE49-F238E27FC236}">
                <a16:creationId xmlns:a16="http://schemas.microsoft.com/office/drawing/2014/main" id="{F6256C90-599B-DB85-088D-1163F52D4F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4391" y="0"/>
            <a:ext cx="6928819" cy="1325513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0CDFF04-2608-D247-2D08-3D7EE97B114E}"/>
              </a:ext>
            </a:extLst>
          </p:cNvPr>
          <p:cNvSpPr txBox="1"/>
          <p:nvPr/>
        </p:nvSpPr>
        <p:spPr>
          <a:xfrm>
            <a:off x="579354" y="1577514"/>
            <a:ext cx="572372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P </a:t>
            </a:r>
            <a:r>
              <a:rPr lang="en-US" sz="4400" dirty="0" err="1"/>
              <a:t>P</a:t>
            </a:r>
            <a:r>
              <a:rPr lang="en-US" sz="4400" dirty="0"/>
              <a:t> A C</a:t>
            </a:r>
          </a:p>
        </p:txBody>
      </p:sp>
    </p:spTree>
    <p:extLst>
      <p:ext uri="{BB962C8B-B14F-4D97-AF65-F5344CB8AC3E}">
        <p14:creationId xmlns:p14="http://schemas.microsoft.com/office/powerpoint/2010/main" val="147772373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1808E-45C8-8B3A-FAE6-543851B45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cs-vs-ppac.png">
            <a:extLst>
              <a:ext uri="{FF2B5EF4-FFF2-40B4-BE49-F238E27FC236}">
                <a16:creationId xmlns:a16="http://schemas.microsoft.com/office/drawing/2014/main" id="{BA1709CD-6133-5B9B-6C08-4B3E3EA0BC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6937" y="-6636469"/>
            <a:ext cx="6938126" cy="132729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A7BDC17-CED2-84F3-3501-A9EAED445242}"/>
              </a:ext>
            </a:extLst>
          </p:cNvPr>
          <p:cNvSpPr txBox="1"/>
          <p:nvPr/>
        </p:nvSpPr>
        <p:spPr>
          <a:xfrm>
            <a:off x="579354" y="1577514"/>
            <a:ext cx="572372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LCS</a:t>
            </a:r>
          </a:p>
        </p:txBody>
      </p:sp>
    </p:spTree>
    <p:extLst>
      <p:ext uri="{BB962C8B-B14F-4D97-AF65-F5344CB8AC3E}">
        <p14:creationId xmlns:p14="http://schemas.microsoft.com/office/powerpoint/2010/main" val="209408849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9BC85-B70C-18C8-D18B-E06B18188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C11D2-B6F4-6D41-1A19-CC044C07A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LCS vs PPAC</a:t>
            </a:r>
          </a:p>
        </p:txBody>
      </p:sp>
      <p:pic>
        <p:nvPicPr>
          <p:cNvPr id="3" name="Picture 2" descr="lcs-vs-ppac.png">
            <a:extLst>
              <a:ext uri="{FF2B5EF4-FFF2-40B4-BE49-F238E27FC236}">
                <a16:creationId xmlns:a16="http://schemas.microsoft.com/office/drawing/2014/main" id="{C207F9E0-5AEC-4986-F42D-25C37E5892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1550" y="1371600"/>
            <a:ext cx="2628900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450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THE IMMUTABLE ARTIFACT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sz="3200" dirty="0"/>
              <a:t>The package is created exactly once. Everything after that is promotion.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THE ARTIFACT IS BUILT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800"/>
            </a:pPr>
            <a:r>
              <a:rPr sz="3200" dirty="0"/>
              <a:t>Compiled from source on hosted agents (no build VM)</a:t>
            </a:r>
          </a:p>
          <a:p>
            <a:pPr>
              <a:defRPr sz="1800"/>
            </a:pPr>
            <a:r>
              <a:rPr sz="3200" dirty="0"/>
              <a:t>NuGet </a:t>
            </a:r>
            <a:r>
              <a:rPr sz="3200" dirty="0" err="1"/>
              <a:t>DevALM</a:t>
            </a:r>
            <a:r>
              <a:rPr sz="3200" dirty="0"/>
              <a:t> packages provide the toolchain</a:t>
            </a:r>
          </a:p>
          <a:p>
            <a:pPr>
              <a:defRPr sz="1800"/>
            </a:pPr>
            <a:r>
              <a:rPr sz="3200" dirty="0"/>
              <a:t>Version number baked into module metadata at compile time</a:t>
            </a:r>
          </a:p>
          <a:p>
            <a:pPr>
              <a:defRPr sz="1800"/>
            </a:pPr>
            <a:r>
              <a:rPr sz="3200" dirty="0"/>
              <a:t>Published as a pipeline artifact — immutable from this point</a:t>
            </a:r>
          </a:p>
          <a:p>
            <a:pPr>
              <a:defRPr sz="1800"/>
            </a:pPr>
            <a:r>
              <a:rPr sz="3200" dirty="0"/>
              <a:t>Same binary in UAT, DM, GOLD, PROD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IMMUTABILITY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800"/>
            </a:pPr>
            <a:r>
              <a:rPr sz="2600" dirty="0"/>
              <a:t>If UAT passes and GOLD fails — it's environmental, not build variance</a:t>
            </a:r>
          </a:p>
          <a:p>
            <a:pPr>
              <a:defRPr sz="1800"/>
            </a:pPr>
            <a:r>
              <a:rPr sz="2600" dirty="0"/>
              <a:t>Rollback = deploy a known-good artifact (not rebuild from a commit)</a:t>
            </a:r>
          </a:p>
          <a:p>
            <a:pPr>
              <a:defRPr sz="1800"/>
            </a:pPr>
            <a:r>
              <a:rPr sz="2600" dirty="0"/>
              <a:t>Auditors trace any production binary to the exact source commit</a:t>
            </a:r>
          </a:p>
          <a:p>
            <a:pPr>
              <a:defRPr sz="1800"/>
            </a:pPr>
            <a:r>
              <a:rPr sz="2600" dirty="0"/>
              <a:t>Cache invalidates on version bump — no dependency drift</a:t>
            </a:r>
          </a:p>
          <a:p>
            <a:pPr>
              <a:defRPr sz="1800"/>
            </a:pPr>
            <a:endParaRPr sz="2600" dirty="0"/>
          </a:p>
          <a:p>
            <a:pPr>
              <a:defRPr sz="1800"/>
            </a:pPr>
            <a:r>
              <a:rPr sz="2600" dirty="0"/>
              <a:t>The compilation environment is deterministic and versioned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ARTIFACT PROMOTION</a:t>
            </a:r>
          </a:p>
        </p:txBody>
      </p:sp>
      <p:pic>
        <p:nvPicPr>
          <p:cNvPr id="3" name="Picture 2" descr="artifact-promo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25" y="2110348"/>
            <a:ext cx="12047141" cy="293630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BRANCH STRATEGY &amp; ENFORCEMENT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sz="3200" dirty="0"/>
              <a:t>Branches control where code CAN go. Pipelines control where it DOES go.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PROMOTION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800"/>
            </a:pPr>
            <a:r>
              <a:rPr sz="2400" b="1" dirty="0"/>
              <a:t>feature/* </a:t>
            </a:r>
            <a:r>
              <a:rPr sz="2400" dirty="0"/>
              <a:t>→ PR (integration test) → </a:t>
            </a:r>
            <a:r>
              <a:rPr sz="2400" i="1" dirty="0"/>
              <a:t>main</a:t>
            </a:r>
          </a:p>
          <a:p>
            <a:pPr>
              <a:defRPr sz="1800"/>
            </a:pPr>
            <a:r>
              <a:rPr sz="2400" i="1" dirty="0"/>
              <a:t>main</a:t>
            </a:r>
            <a:r>
              <a:rPr sz="2400" dirty="0"/>
              <a:t> → </a:t>
            </a:r>
            <a:r>
              <a:rPr sz="2400" b="1" dirty="0"/>
              <a:t>release/* </a:t>
            </a:r>
            <a:r>
              <a:rPr sz="2400" dirty="0"/>
              <a:t>→ </a:t>
            </a:r>
            <a:r>
              <a:rPr sz="2400" i="1" dirty="0"/>
              <a:t>UAT</a:t>
            </a:r>
            <a:r>
              <a:rPr sz="2400" dirty="0"/>
              <a:t> → </a:t>
            </a:r>
            <a:r>
              <a:rPr sz="2400" i="1" dirty="0"/>
              <a:t>DM</a:t>
            </a:r>
            <a:r>
              <a:rPr sz="2400" dirty="0"/>
              <a:t> → </a:t>
            </a:r>
            <a:r>
              <a:rPr sz="2400" i="1" dirty="0"/>
              <a:t>GOLD</a:t>
            </a:r>
            <a:r>
              <a:rPr sz="2400" dirty="0"/>
              <a:t> → </a:t>
            </a:r>
            <a:r>
              <a:rPr sz="2400" i="1" dirty="0"/>
              <a:t>PROD</a:t>
            </a:r>
          </a:p>
          <a:p>
            <a:pPr>
              <a:defRPr sz="1800"/>
            </a:pPr>
            <a:endParaRPr sz="2400" dirty="0"/>
          </a:p>
          <a:p>
            <a:pPr>
              <a:defRPr sz="1800"/>
            </a:pPr>
            <a:r>
              <a:rPr sz="2400" dirty="0"/>
              <a:t>Every PR runs a full integration test:</a:t>
            </a:r>
          </a:p>
          <a:p>
            <a:pPr lvl="1">
              <a:defRPr sz="1800"/>
            </a:pPr>
            <a:r>
              <a:rPr dirty="0"/>
              <a:t>Provision ephemeral sandbox</a:t>
            </a:r>
          </a:p>
          <a:p>
            <a:pPr lvl="1">
              <a:defRPr sz="1800"/>
            </a:pPr>
            <a:r>
              <a:rPr dirty="0"/>
              <a:t>Copy database from known-good source</a:t>
            </a:r>
          </a:p>
          <a:p>
            <a:pPr lvl="1">
              <a:defRPr sz="1800"/>
            </a:pPr>
            <a:r>
              <a:rPr dirty="0"/>
              <a:t>Deploy package + DB sync</a:t>
            </a:r>
          </a:p>
          <a:p>
            <a:pPr lvl="1">
              <a:defRPr sz="1800"/>
            </a:pPr>
            <a:r>
              <a:rPr dirty="0"/>
              <a:t>Run automated tests</a:t>
            </a:r>
          </a:p>
          <a:p>
            <a:pPr lvl="1">
              <a:defRPr sz="1800"/>
            </a:pPr>
            <a:r>
              <a:rPr dirty="0"/>
              <a:t>Tear down (always, even on failure)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BRANCH STRATEGY</a:t>
            </a:r>
          </a:p>
        </p:txBody>
      </p:sp>
      <p:pic>
        <p:nvPicPr>
          <p:cNvPr id="3" name="Picture 2" descr="branch-strate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489" y="2422113"/>
            <a:ext cx="11935427" cy="201028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AA807-D88E-47BD-C42E-C09FC7C9C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7BEC0-FF7F-D56C-CB86-4841DA08D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BRANCH STRATEGY</a:t>
            </a:r>
          </a:p>
        </p:txBody>
      </p:sp>
      <p:pic>
        <p:nvPicPr>
          <p:cNvPr id="3" name="Picture 2" descr="branch-strategy.png">
            <a:extLst>
              <a:ext uri="{FF2B5EF4-FFF2-40B4-BE49-F238E27FC236}">
                <a16:creationId xmlns:a16="http://schemas.microsoft.com/office/drawing/2014/main" id="{E1E25FF4-D40F-3B65-4648-8F827F99C5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976" y="1297902"/>
            <a:ext cx="22721564" cy="3826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52436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E77AB-1C97-5A07-B863-143665973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88381-CEA3-DF21-7666-EC9906849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BRANCH STRATEGY</a:t>
            </a:r>
          </a:p>
        </p:txBody>
      </p:sp>
      <p:pic>
        <p:nvPicPr>
          <p:cNvPr id="3" name="Picture 2" descr="branch-strategy.png">
            <a:extLst>
              <a:ext uri="{FF2B5EF4-FFF2-40B4-BE49-F238E27FC236}">
                <a16:creationId xmlns:a16="http://schemas.microsoft.com/office/drawing/2014/main" id="{6BC621F5-179A-C586-21F2-D49B339694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966977" y="1212842"/>
            <a:ext cx="22721564" cy="3826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00448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77A5D-9E89-4F53-82C6-7FAE3E537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1FA9B-806A-D774-9715-5AE457AB0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BRANCH STRATEGY</a:t>
            </a:r>
          </a:p>
        </p:txBody>
      </p:sp>
      <p:pic>
        <p:nvPicPr>
          <p:cNvPr id="3" name="Picture 2" descr="branch-strategy.png">
            <a:extLst>
              <a:ext uri="{FF2B5EF4-FFF2-40B4-BE49-F238E27FC236}">
                <a16:creationId xmlns:a16="http://schemas.microsoft.com/office/drawing/2014/main" id="{ECF7A66B-C3BB-21F4-0ABC-9C53D93CF2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489" y="2422113"/>
            <a:ext cx="11935427" cy="2010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16043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 AS THE QUALITY GATE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800"/>
            </a:pPr>
            <a:r>
              <a:rPr sz="2400" dirty="0"/>
              <a:t>By the time a release branch is cut from main,</a:t>
            </a:r>
            <a:r>
              <a:rPr lang="en-US" sz="2400" dirty="0"/>
              <a:t> </a:t>
            </a:r>
            <a:r>
              <a:rPr sz="2400" dirty="0"/>
              <a:t>every commit has already been validated</a:t>
            </a:r>
            <a:r>
              <a:rPr lang="en-US" sz="2400" dirty="0"/>
              <a:t> </a:t>
            </a:r>
            <a:r>
              <a:rPr sz="2400" dirty="0"/>
              <a:t>in a real F&amp;O environment.</a:t>
            </a:r>
          </a:p>
          <a:p>
            <a:pPr>
              <a:defRPr sz="1800"/>
            </a:pPr>
            <a:endParaRPr sz="2400" dirty="0"/>
          </a:p>
          <a:p>
            <a:pPr>
              <a:defRPr sz="1800"/>
            </a:pPr>
            <a:r>
              <a:rPr sz="2400" dirty="0"/>
              <a:t>UAT deployment is for business acceptance,</a:t>
            </a:r>
            <a:r>
              <a:rPr lang="en-US" sz="2400" dirty="0"/>
              <a:t> </a:t>
            </a:r>
            <a:r>
              <a:rPr sz="2400" dirty="0"/>
              <a:t>not for catching regressions.</a:t>
            </a:r>
          </a:p>
          <a:p>
            <a:pPr>
              <a:defRPr sz="1800"/>
            </a:pPr>
            <a:endParaRPr sz="2400" dirty="0"/>
          </a:p>
          <a:p>
            <a:pPr>
              <a:defRPr sz="1800"/>
            </a:pPr>
            <a:r>
              <a:rPr sz="2400" dirty="0"/>
              <a:t>"Process" means someone has to remember.</a:t>
            </a:r>
          </a:p>
          <a:p>
            <a:pPr>
              <a:defRPr sz="1800"/>
            </a:pPr>
            <a:r>
              <a:rPr sz="2400" dirty="0"/>
              <a:t>"Structure" means they can't forget.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 VALIDATION FLOW</a:t>
            </a:r>
          </a:p>
        </p:txBody>
      </p:sp>
      <p:pic>
        <p:nvPicPr>
          <p:cNvPr id="3" name="Picture 2" descr="pr-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5603" y="1315759"/>
            <a:ext cx="2940794" cy="5378464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61F089-B05B-A410-9A40-B4303CF0B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pr-validation.png">
            <a:extLst>
              <a:ext uri="{FF2B5EF4-FFF2-40B4-BE49-F238E27FC236}">
                <a16:creationId xmlns:a16="http://schemas.microsoft.com/office/drawing/2014/main" id="{82011969-D2BB-623F-09B3-98089917C0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1612" y="0"/>
            <a:ext cx="6261108" cy="11451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8686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C98A3-6BE0-C65F-B587-A24159035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pr-validation.png">
            <a:extLst>
              <a:ext uri="{FF2B5EF4-FFF2-40B4-BE49-F238E27FC236}">
                <a16:creationId xmlns:a16="http://schemas.microsoft.com/office/drawing/2014/main" id="{5870F1C3-1A38-647E-7E6E-14D4484B41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2553" y="-4593038"/>
            <a:ext cx="6261108" cy="11451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57653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9CE1D-391E-1910-552B-547B794BA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8151D-BA89-8B3E-32A7-B324ABDEC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 VALIDATION FLOW</a:t>
            </a:r>
          </a:p>
        </p:txBody>
      </p:sp>
      <p:pic>
        <p:nvPicPr>
          <p:cNvPr id="3" name="Picture 2" descr="pr-validation.png">
            <a:extLst>
              <a:ext uri="{FF2B5EF4-FFF2-40B4-BE49-F238E27FC236}">
                <a16:creationId xmlns:a16="http://schemas.microsoft.com/office/drawing/2014/main" id="{23D8F416-DC08-41B1-3BB4-4A64A2F24A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5603" y="1315759"/>
            <a:ext cx="2940794" cy="5378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56542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STRUCTURAL ENFORCEMENT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800"/>
            </a:pPr>
            <a:r>
              <a:rPr sz="2400" dirty="0"/>
              <a:t>PR gate must pass → main never has untested code</a:t>
            </a:r>
          </a:p>
          <a:p>
            <a:pPr>
              <a:defRPr sz="1800"/>
            </a:pPr>
            <a:r>
              <a:rPr sz="2400" dirty="0"/>
              <a:t>Deploy only triggers from release/* → main can't reach UAT</a:t>
            </a:r>
            <a:r>
              <a:rPr lang="en-US" sz="2400" dirty="0"/>
              <a:t> (or PROD)</a:t>
            </a:r>
            <a:endParaRPr sz="2400" dirty="0"/>
          </a:p>
          <a:p>
            <a:pPr>
              <a:defRPr sz="1800"/>
            </a:pPr>
            <a:r>
              <a:rPr sz="2400" dirty="0"/>
              <a:t>Release chains off deploy success → can't skip validation</a:t>
            </a:r>
          </a:p>
          <a:p>
            <a:pPr>
              <a:defRPr sz="1800"/>
            </a:pPr>
            <a:r>
              <a:rPr sz="2400" dirty="0"/>
              <a:t>Service connections have branch restrictions</a:t>
            </a:r>
          </a:p>
          <a:p>
            <a:pPr>
              <a:defRPr sz="1800"/>
            </a:pPr>
            <a:r>
              <a:rPr sz="2400" dirty="0"/>
              <a:t>Production credentials only issued to release branches</a:t>
            </a:r>
          </a:p>
          <a:p>
            <a:pPr>
              <a:defRPr sz="1800"/>
            </a:pPr>
            <a:endParaRPr sz="2400" dirty="0"/>
          </a:p>
          <a:p>
            <a:pPr>
              <a:defRPr sz="1800"/>
            </a:pPr>
            <a:r>
              <a:rPr sz="2400" dirty="0"/>
              <a:t>The artifact never changes — only its fate does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THE DEPLOY PATTERN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sz="3200" dirty="0"/>
              <a:t>Deploy once, verify independently, fail fast for downstream.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TWO-JOB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800"/>
            </a:pPr>
            <a:r>
              <a:rPr sz="2000" dirty="0"/>
              <a:t>Job 1: Submit &amp; Wait</a:t>
            </a:r>
          </a:p>
          <a:p>
            <a:pPr lvl="1">
              <a:defRPr sz="1800"/>
            </a:pPr>
            <a:r>
              <a:rPr sz="2800" dirty="0"/>
              <a:t>Readiness check (is environment deployable?)</a:t>
            </a:r>
          </a:p>
          <a:p>
            <a:pPr lvl="1">
              <a:defRPr sz="1800"/>
            </a:pPr>
            <a:r>
              <a:rPr sz="2800" dirty="0"/>
              <a:t>Deploy package (synchronous wait)</a:t>
            </a:r>
          </a:p>
          <a:p>
            <a:pPr lvl="1">
              <a:defRPr sz="1800"/>
            </a:pPr>
            <a:r>
              <a:rPr sz="2800" dirty="0"/>
              <a:t>Report outcome</a:t>
            </a:r>
          </a:p>
          <a:p>
            <a:pPr>
              <a:defRPr sz="1800"/>
            </a:pPr>
            <a:r>
              <a:rPr sz="2000" dirty="0"/>
              <a:t>Job 2: Verify</a:t>
            </a:r>
          </a:p>
          <a:p>
            <a:pPr lvl="1">
              <a:defRPr sz="1800"/>
            </a:pPr>
            <a:r>
              <a:rPr sz="2800" dirty="0"/>
              <a:t>Independent status check via management API</a:t>
            </a:r>
          </a:p>
          <a:p>
            <a:pPr lvl="1">
              <a:defRPr sz="1800"/>
            </a:pPr>
            <a:r>
              <a:rPr sz="2800" dirty="0"/>
              <a:t>Notify stakeholders</a:t>
            </a:r>
          </a:p>
          <a:p>
            <a:pPr lvl="1">
              <a:defRPr sz="1800"/>
            </a:pPr>
            <a:r>
              <a:rPr sz="2800" dirty="0"/>
              <a:t>Gate downstream environments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 TEMPLATE</a:t>
            </a:r>
          </a:p>
        </p:txBody>
      </p:sp>
      <p:pic>
        <p:nvPicPr>
          <p:cNvPr id="3" name="Picture 2" descr="deploy-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7352" y="1371600"/>
            <a:ext cx="1817296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CCEC7-22AF-FDFF-1579-8736B1FEB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eploy-template.png">
            <a:extLst>
              <a:ext uri="{FF2B5EF4-FFF2-40B4-BE49-F238E27FC236}">
                <a16:creationId xmlns:a16="http://schemas.microsoft.com/office/drawing/2014/main" id="{CC20FEA6-2836-C40C-D501-977747C92A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9051" y="0"/>
            <a:ext cx="5366639" cy="14851681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2A6BEB7A-DA3D-AD70-DCE8-485BA2B79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659542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58092-D112-F64A-E674-F7F2DC296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eploy-template.png">
            <a:extLst>
              <a:ext uri="{FF2B5EF4-FFF2-40B4-BE49-F238E27FC236}">
                <a16:creationId xmlns:a16="http://schemas.microsoft.com/office/drawing/2014/main" id="{25E27067-D227-6331-BE93-35D6A3A654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6898" y="-5968999"/>
            <a:ext cx="4690092" cy="12979399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FB94FB96-7FF8-FC23-FCF2-631F37B81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892563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63C92-5835-66F6-2C16-FF21A78D7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F2D69-5A26-AA61-932D-27E0EE792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 TEMPLATE</a:t>
            </a:r>
          </a:p>
        </p:txBody>
      </p:sp>
      <p:pic>
        <p:nvPicPr>
          <p:cNvPr id="3" name="Picture 2" descr="deploy-template.png">
            <a:extLst>
              <a:ext uri="{FF2B5EF4-FFF2-40B4-BE49-F238E27FC236}">
                <a16:creationId xmlns:a16="http://schemas.microsoft.com/office/drawing/2014/main" id="{917B0E56-4846-B314-435E-8FB034AA6B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7352" y="1371600"/>
            <a:ext cx="1817296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7748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READINESS &amp; SYNCHRONOUS WAIT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defRPr sz="1600"/>
            </a:pPr>
            <a:r>
              <a:rPr dirty="0"/>
              <a:t>Environment Readiness:</a:t>
            </a:r>
          </a:p>
          <a:p>
            <a:pPr lvl="1">
              <a:defRPr sz="1600"/>
            </a:pPr>
            <a:r>
              <a:rPr sz="2800" dirty="0"/>
              <a:t>Poll state before deploying</a:t>
            </a:r>
          </a:p>
          <a:p>
            <a:pPr lvl="1">
              <a:defRPr sz="1600"/>
            </a:pPr>
            <a:r>
              <a:rPr sz="2800" dirty="0"/>
              <a:t>Wait for Servicing/Updating</a:t>
            </a:r>
          </a:p>
          <a:p>
            <a:pPr lvl="1">
              <a:defRPr sz="1600"/>
            </a:pPr>
            <a:r>
              <a:rPr sz="2800" dirty="0"/>
              <a:t>Deploy when ready</a:t>
            </a:r>
          </a:p>
          <a:p>
            <a:pPr lvl="1">
              <a:defRPr sz="1600"/>
            </a:pPr>
            <a:r>
              <a:rPr sz="2800" dirty="0"/>
              <a:t>Without: instant failure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>
              <a:defRPr sz="1600"/>
            </a:pPr>
            <a:r>
              <a:rPr dirty="0"/>
              <a:t>Synchronous Wait:</a:t>
            </a:r>
          </a:p>
          <a:p>
            <a:pPr lvl="1">
              <a:defRPr sz="1600"/>
            </a:pPr>
            <a:r>
              <a:rPr sz="2800" dirty="0"/>
              <a:t>Agent disconnects = PPAC cancels</a:t>
            </a:r>
          </a:p>
          <a:p>
            <a:pPr lvl="1">
              <a:defRPr sz="1600"/>
            </a:pPr>
            <a:r>
              <a:rPr sz="2800" dirty="0"/>
              <a:t>Must stay connected until done</a:t>
            </a:r>
          </a:p>
          <a:p>
            <a:pPr lvl="1">
              <a:defRPr sz="1600"/>
            </a:pPr>
            <a:r>
              <a:rPr sz="2800" dirty="0"/>
              <a:t>Fire-and-forget = silent failure</a:t>
            </a:r>
          </a:p>
          <a:p>
            <a:pPr lvl="1">
              <a:defRPr sz="1600"/>
            </a:pPr>
            <a:r>
              <a:rPr sz="2800" dirty="0"/>
              <a:t>3-hour timeout, poll internally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ENVIRONMENT AUTOMATION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sz="4000" dirty="0"/>
              <a:t>Everything LCS did manually, PPAC does via API.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BRANCH-TRIGGERED PROVISIONING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dirty="0"/>
              <a:t>Push a feature branch → sandbox provisioned automatically</a:t>
            </a:r>
          </a:p>
          <a:p>
            <a:pPr>
              <a:defRPr sz="1800"/>
            </a:pPr>
            <a:r>
              <a:rPr dirty="0"/>
              <a:t>F&amp;O template applied, ready in 15</a:t>
            </a:r>
            <a:r>
              <a:rPr lang="en-US" dirty="0"/>
              <a:t>0</a:t>
            </a:r>
            <a:r>
              <a:rPr dirty="0"/>
              <a:t>-30</a:t>
            </a:r>
            <a:r>
              <a:rPr lang="en-US" dirty="0"/>
              <a:t>0</a:t>
            </a:r>
            <a:r>
              <a:rPr dirty="0"/>
              <a:t> minutes</a:t>
            </a:r>
          </a:p>
          <a:p>
            <a:pPr>
              <a:defRPr sz="1800"/>
            </a:pPr>
            <a:r>
              <a:rPr dirty="0"/>
              <a:t>Database copied from known-good source</a:t>
            </a:r>
          </a:p>
          <a:p>
            <a:pPr>
              <a:defRPr sz="1800"/>
            </a:pPr>
            <a:r>
              <a:rPr dirty="0"/>
              <a:t>Developer </a:t>
            </a:r>
            <a:r>
              <a:rPr lang="en-US" dirty="0"/>
              <a:t>codes and </a:t>
            </a:r>
            <a:r>
              <a:rPr dirty="0"/>
              <a:t>tests against real data from day one</a:t>
            </a:r>
          </a:p>
          <a:p>
            <a:pPr>
              <a:defRPr sz="1800"/>
            </a:pPr>
            <a:endParaRPr dirty="0"/>
          </a:p>
          <a:p>
            <a:pPr>
              <a:defRPr sz="1800"/>
            </a:pPr>
            <a:r>
              <a:rPr dirty="0"/>
              <a:t>PR merged → sandbox deleted → </a:t>
            </a:r>
            <a:r>
              <a:rPr lang="en-US" dirty="0"/>
              <a:t>release storage</a:t>
            </a:r>
            <a:endParaRPr dirty="0"/>
          </a:p>
          <a:p>
            <a:pPr>
              <a:defRPr sz="1800"/>
            </a:pPr>
            <a:r>
              <a:rPr dirty="0"/>
              <a:t>Zero infrastructure to manage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ENVIRONMENT LIFECYCLE</a:t>
            </a:r>
          </a:p>
        </p:txBody>
      </p:sp>
      <p:pic>
        <p:nvPicPr>
          <p:cNvPr id="3" name="Picture 2" descr="environment-life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3167" y="1371600"/>
            <a:ext cx="1985666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8C644A-15FD-BF10-9C5F-4328E78C7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environment-lifecycle.png">
            <a:extLst>
              <a:ext uri="{FF2B5EF4-FFF2-40B4-BE49-F238E27FC236}">
                <a16:creationId xmlns:a16="http://schemas.microsoft.com/office/drawing/2014/main" id="{4793D10B-5445-B47F-3CDC-90F7AA1AB3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2300" y="0"/>
            <a:ext cx="5867400" cy="14860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21963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755D8D-D3CE-8CCD-DF07-851B1762F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environment-lifecycle.png">
            <a:extLst>
              <a:ext uri="{FF2B5EF4-FFF2-40B4-BE49-F238E27FC236}">
                <a16:creationId xmlns:a16="http://schemas.microsoft.com/office/drawing/2014/main" id="{A73E9448-FB1E-E4B9-9ECC-961BD7EEDC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8166" y="-6159500"/>
            <a:ext cx="5437834" cy="13772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47527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B9185-4A43-F8E6-D322-08A39DFA9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environment-lifecycle.png">
            <a:extLst>
              <a:ext uri="{FF2B5EF4-FFF2-40B4-BE49-F238E27FC236}">
                <a16:creationId xmlns:a16="http://schemas.microsoft.com/office/drawing/2014/main" id="{EBF93BB0-D1BB-7B7D-76EC-D29A50CB99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-12103101"/>
            <a:ext cx="6731000" cy="17047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20475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BEBAE-ACEB-96B2-7532-1FAB77CC3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8B01D-1AF5-BAAC-C3BA-8BA24D79C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ENVIRONMENT LIFECYCLE</a:t>
            </a:r>
          </a:p>
        </p:txBody>
      </p:sp>
      <p:pic>
        <p:nvPicPr>
          <p:cNvPr id="3" name="Picture 2" descr="environment-lifecycle.png">
            <a:extLst>
              <a:ext uri="{FF2B5EF4-FFF2-40B4-BE49-F238E27FC236}">
                <a16:creationId xmlns:a16="http://schemas.microsoft.com/office/drawing/2014/main" id="{CDB015D4-5B62-23C6-790C-A82C6F780D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3167" y="1371600"/>
            <a:ext cx="1985666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85157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THE FULL</a:t>
            </a:r>
            <a:r>
              <a:rPr lang="en-US" dirty="0"/>
              <a:t> DEVELOPMENT</a:t>
            </a:r>
            <a:r>
              <a:rPr dirty="0"/>
              <a:t> LIFECYCLE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800"/>
            </a:pPr>
            <a:r>
              <a:rPr sz="2400" dirty="0"/>
              <a:t>Developer pushes feature branch</a:t>
            </a:r>
          </a:p>
          <a:p>
            <a:pPr lvl="1">
              <a:defRPr sz="1800"/>
            </a:pPr>
            <a:r>
              <a:rPr sz="2800" dirty="0"/>
              <a:t>Sandbox created automatically</a:t>
            </a:r>
          </a:p>
          <a:p>
            <a:pPr lvl="1">
              <a:defRPr sz="1800"/>
            </a:pPr>
            <a:r>
              <a:rPr sz="2800" dirty="0"/>
              <a:t>DB copied from known-good source</a:t>
            </a:r>
          </a:p>
          <a:p>
            <a:pPr lvl="1">
              <a:defRPr sz="1800"/>
            </a:pPr>
            <a:r>
              <a:rPr sz="2800" dirty="0"/>
              <a:t>Developer tests with real data</a:t>
            </a:r>
            <a:endParaRPr lang="en-US" sz="2800" dirty="0"/>
          </a:p>
          <a:p>
            <a:pPr lvl="1">
              <a:defRPr sz="1800"/>
            </a:pPr>
            <a:r>
              <a:rPr lang="en-US" sz="2800" dirty="0"/>
              <a:t>PR created → automated test run, other automations run</a:t>
            </a:r>
            <a:endParaRPr sz="2800" dirty="0"/>
          </a:p>
          <a:p>
            <a:pPr lvl="1">
              <a:defRPr sz="1800"/>
            </a:pPr>
            <a:r>
              <a:rPr sz="2800" dirty="0"/>
              <a:t>PR merged → sandbox deleted</a:t>
            </a:r>
          </a:p>
          <a:p>
            <a:pPr>
              <a:defRPr sz="1800"/>
            </a:pPr>
            <a:endParaRPr dirty="0"/>
          </a:p>
          <a:p>
            <a:pPr>
              <a:defRPr sz="1800"/>
            </a:pPr>
            <a:r>
              <a:rPr sz="2400" dirty="0"/>
              <a:t>"Infrastructure as cattle, not pets."</a:t>
            </a:r>
          </a:p>
          <a:p>
            <a:pPr>
              <a:defRPr sz="1800"/>
            </a:pPr>
            <a:r>
              <a:rPr sz="2400" dirty="0"/>
              <a:t>Environments are disposable. The code is what matters.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POST-COPY AUTOMATION</a:t>
            </a:r>
            <a:r>
              <a:rPr lang="en-US" dirty="0"/>
              <a:t> VIA DEVOPS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800"/>
            </a:pPr>
            <a:r>
              <a:rPr sz="2400" dirty="0"/>
              <a:t>After database copy, automated steps run:</a:t>
            </a:r>
          </a:p>
          <a:p>
            <a:pPr lvl="1">
              <a:defRPr sz="1800"/>
            </a:pPr>
            <a:r>
              <a:rPr sz="2000" dirty="0"/>
              <a:t>DMF entity refresh (new data entities published)</a:t>
            </a:r>
          </a:p>
          <a:p>
            <a:pPr lvl="1">
              <a:defRPr sz="1800"/>
            </a:pPr>
            <a:r>
              <a:rPr sz="2000" dirty="0"/>
              <a:t>Environment validation checks</a:t>
            </a:r>
          </a:p>
          <a:p>
            <a:pPr lvl="1">
              <a:defRPr sz="1800"/>
            </a:pPr>
            <a:r>
              <a:rPr sz="2000" dirty="0"/>
              <a:t>Service endpoint repointing</a:t>
            </a:r>
            <a:endParaRPr lang="en-US" sz="2000" dirty="0"/>
          </a:p>
          <a:p>
            <a:pPr lvl="1">
              <a:defRPr sz="1800"/>
            </a:pPr>
            <a:r>
              <a:rPr lang="en-US" sz="2000" dirty="0"/>
              <a:t>Reconfigure the environment to a set-point state</a:t>
            </a:r>
            <a:endParaRPr sz="2000" dirty="0"/>
          </a:p>
          <a:p>
            <a:pPr>
              <a:defRPr sz="1800"/>
            </a:pPr>
            <a:endParaRPr sz="2400" dirty="0"/>
          </a:p>
          <a:p>
            <a:pPr>
              <a:defRPr sz="1800"/>
            </a:pPr>
            <a:r>
              <a:rPr sz="2400" dirty="0"/>
              <a:t>No manual steps between copy and ready-to-use</a:t>
            </a:r>
          </a:p>
          <a:p>
            <a:pPr>
              <a:defRPr sz="1800"/>
            </a:pPr>
            <a:r>
              <a:rPr sz="2400" dirty="0"/>
              <a:t>Common gotcha: SPN must be registered as F&amp;O app user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SECURITY &amp; GOVERNANCE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Defense-in-depth — multiple independent enforcement layers.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ENFORCEMENT LAYERS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800"/>
            </a:pPr>
            <a:r>
              <a:rPr sz="2400" dirty="0"/>
              <a:t>Branch triggers → unauthorized code can't reach deploy</a:t>
            </a:r>
          </a:p>
          <a:p>
            <a:pPr>
              <a:defRPr sz="1800"/>
            </a:pPr>
            <a:r>
              <a:rPr sz="2400" dirty="0"/>
              <a:t>Pipeline chaining → can't skip validation stages</a:t>
            </a:r>
          </a:p>
          <a:p>
            <a:pPr>
              <a:defRPr sz="1800"/>
            </a:pPr>
            <a:r>
              <a:rPr sz="2400" dirty="0"/>
              <a:t>Environment approvals → human gate per environment</a:t>
            </a:r>
          </a:p>
          <a:p>
            <a:pPr>
              <a:defRPr sz="1800"/>
            </a:pPr>
            <a:r>
              <a:rPr sz="2400" dirty="0"/>
              <a:t>Service connection branch control → rogue pipelines blocked</a:t>
            </a:r>
          </a:p>
          <a:p>
            <a:pPr>
              <a:defRPr sz="1800"/>
            </a:pPr>
            <a:r>
              <a:rPr sz="2400" dirty="0"/>
              <a:t>Business hours restriction → no </a:t>
            </a:r>
            <a:r>
              <a:rPr lang="en-US" sz="2400" dirty="0"/>
              <a:t>"on</a:t>
            </a:r>
            <a:r>
              <a:rPr sz="2400" dirty="0"/>
              <a:t>-hours</a:t>
            </a:r>
            <a:r>
              <a:rPr lang="en-US" sz="2400" dirty="0"/>
              <a:t>"</a:t>
            </a:r>
            <a:r>
              <a:rPr sz="2400" dirty="0"/>
              <a:t> prod changes</a:t>
            </a:r>
            <a:r>
              <a:rPr lang="en-US" sz="2400" dirty="0"/>
              <a:t> – you pick the schedule</a:t>
            </a:r>
            <a:endParaRPr sz="2400" dirty="0"/>
          </a:p>
          <a:p>
            <a:pPr>
              <a:defRPr sz="1800"/>
            </a:pPr>
            <a:endParaRPr sz="2400" dirty="0"/>
          </a:p>
          <a:p>
            <a:pPr>
              <a:defRPr sz="1800"/>
            </a:pPr>
            <a:r>
              <a:rPr sz="2400" dirty="0"/>
              <a:t>Each layer is independent. Any single layer can fail</a:t>
            </a:r>
            <a:r>
              <a:rPr lang="en-US" sz="2400" dirty="0"/>
              <a:t> </a:t>
            </a:r>
            <a:r>
              <a:rPr sz="2400" dirty="0"/>
              <a:t>and the others still hold. That's defense-in-depth.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LAYERS</a:t>
            </a:r>
          </a:p>
        </p:txBody>
      </p:sp>
      <p:pic>
        <p:nvPicPr>
          <p:cNvPr id="3" name="Picture 2" descr="security-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560" y="1371600"/>
            <a:ext cx="2626879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0F20E-7499-29CA-018D-F27BA94F1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ecurity-layers.png">
            <a:extLst>
              <a:ext uri="{FF2B5EF4-FFF2-40B4-BE49-F238E27FC236}">
                <a16:creationId xmlns:a16="http://schemas.microsoft.com/office/drawing/2014/main" id="{1C4E5586-0A8D-BF0E-7E76-A4EA2DD4B7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6960" y="-513466"/>
            <a:ext cx="6152140" cy="11778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59998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65988-E4E0-0D9C-5293-107E311F3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ecurity-layers.png">
            <a:extLst>
              <a:ext uri="{FF2B5EF4-FFF2-40B4-BE49-F238E27FC236}">
                <a16:creationId xmlns:a16="http://schemas.microsoft.com/office/drawing/2014/main" id="{61504D88-C0FF-5582-6AEB-51F79686D2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7460" y="-5199766"/>
            <a:ext cx="6152140" cy="11778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34420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301B4-573B-28DF-E4CA-7AEEAA52A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7CA59-B7F9-FCC1-FC2C-7828B9CBB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LAYERS</a:t>
            </a:r>
          </a:p>
        </p:txBody>
      </p:sp>
      <p:pic>
        <p:nvPicPr>
          <p:cNvPr id="3" name="Picture 2" descr="security-layers.png">
            <a:extLst>
              <a:ext uri="{FF2B5EF4-FFF2-40B4-BE49-F238E27FC236}">
                <a16:creationId xmlns:a16="http://schemas.microsoft.com/office/drawing/2014/main" id="{BAE694C5-3387-5CEC-DECF-688EE5E98B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560" y="1371600"/>
            <a:ext cx="2626879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8761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GETTING STARTED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sz="3200" dirty="0"/>
              <a:t>You don't have to do everything at once.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MINIMUM VIABLE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800"/>
            </a:pPr>
            <a:r>
              <a:rPr sz="2400" dirty="0"/>
              <a:t>Build pipeline — compile on hosted agents, publish artifact</a:t>
            </a:r>
            <a:r>
              <a:rPr lang="en-US" sz="2400" dirty="0"/>
              <a:t>, cache </a:t>
            </a:r>
            <a:r>
              <a:rPr lang="en-US" sz="2400" dirty="0" err="1"/>
              <a:t>nugets</a:t>
            </a:r>
            <a:endParaRPr sz="2400" dirty="0"/>
          </a:p>
          <a:p>
            <a:pPr>
              <a:defRPr sz="1800"/>
            </a:pPr>
            <a:r>
              <a:rPr sz="2400" dirty="0"/>
              <a:t>PR validation — even just compile </a:t>
            </a:r>
            <a:r>
              <a:rPr lang="en-US" sz="2400" dirty="0"/>
              <a:t>with or without</a:t>
            </a:r>
            <a:r>
              <a:rPr sz="2400" dirty="0"/>
              <a:t> basic tests</a:t>
            </a:r>
          </a:p>
          <a:p>
            <a:pPr>
              <a:defRPr sz="1800"/>
            </a:pPr>
            <a:r>
              <a:rPr sz="2400" dirty="0"/>
              <a:t>Deploy pipeline — promote the artifact, don't rebuild</a:t>
            </a:r>
          </a:p>
          <a:p>
            <a:pPr>
              <a:defRPr sz="1800"/>
            </a:pPr>
            <a:endParaRPr sz="2400" dirty="0"/>
          </a:p>
          <a:p>
            <a:pPr>
              <a:defRPr sz="1800"/>
            </a:pPr>
            <a:r>
              <a:rPr sz="2400" dirty="0"/>
              <a:t>Prerequisites:</a:t>
            </a:r>
          </a:p>
          <a:p>
            <a:pPr lvl="1">
              <a:defRPr sz="1800"/>
            </a:pPr>
            <a:r>
              <a:rPr sz="2000" dirty="0"/>
              <a:t>Service principal registered with PPAC</a:t>
            </a:r>
          </a:p>
          <a:p>
            <a:pPr lvl="1">
              <a:defRPr sz="1800"/>
            </a:pPr>
            <a:r>
              <a:rPr sz="2000" dirty="0"/>
              <a:t>NuGet feed with </a:t>
            </a:r>
            <a:r>
              <a:rPr sz="2000" dirty="0" err="1"/>
              <a:t>DevALM</a:t>
            </a:r>
            <a:r>
              <a:rPr sz="2000" dirty="0"/>
              <a:t> packages</a:t>
            </a:r>
          </a:p>
          <a:p>
            <a:pPr lvl="1">
              <a:defRPr sz="1800"/>
            </a:pPr>
            <a:r>
              <a:rPr sz="2000" dirty="0"/>
              <a:t>One variable group for secrets</a:t>
            </a:r>
            <a:r>
              <a:rPr lang="en-US" sz="2000" dirty="0"/>
              <a:t> (using key vault recommended but not required)</a:t>
            </a:r>
            <a:endParaRPr sz="2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GOTCHAS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800"/>
            </a:pPr>
            <a:r>
              <a:rPr sz="3200" dirty="0"/>
              <a:t>"Package DLL is invalid" → artifact path wrong upstream</a:t>
            </a:r>
          </a:p>
          <a:p>
            <a:pPr>
              <a:defRPr sz="1800"/>
            </a:pPr>
            <a:r>
              <a:rPr sz="3200" dirty="0"/>
              <a:t>Secrets empty in scripts → ADO secrets need macro syntax</a:t>
            </a:r>
          </a:p>
          <a:p>
            <a:pPr>
              <a:defRPr sz="1800"/>
            </a:pPr>
            <a:r>
              <a:rPr sz="3200" dirty="0"/>
              <a:t>PPAC API routing errors → use PowerShell module, not raw REST</a:t>
            </a:r>
          </a:p>
          <a:p>
            <a:pPr>
              <a:defRPr sz="1800"/>
            </a:pPr>
            <a:r>
              <a:rPr sz="3200" dirty="0"/>
              <a:t>Deploy cancels mid-apply → synchronous wait required</a:t>
            </a:r>
          </a:p>
          <a:p>
            <a:pPr>
              <a:defRPr sz="1800"/>
            </a:pPr>
            <a:r>
              <a:rPr sz="3200" dirty="0"/>
              <a:t>Build number format errors → must be #.#.#.# (no text)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SPRINT WORKFLOW</a:t>
            </a:r>
          </a:p>
        </p:txBody>
      </p:sp>
      <p:pic>
        <p:nvPicPr>
          <p:cNvPr id="3" name="Picture 2" descr="sprint-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1383" y="1371600"/>
            <a:ext cx="1909233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32EDC-42D9-4590-229D-726347B83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print-workflow.png">
            <a:extLst>
              <a:ext uri="{FF2B5EF4-FFF2-40B4-BE49-F238E27FC236}">
                <a16:creationId xmlns:a16="http://schemas.microsoft.com/office/drawing/2014/main" id="{421D8287-21C6-CBA6-8EA2-38BBB0814D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5550" y="0"/>
            <a:ext cx="4660900" cy="12277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85737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2547F-0DEB-0CA4-1954-C6E893DB8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print-workflow.png">
            <a:extLst>
              <a:ext uri="{FF2B5EF4-FFF2-40B4-BE49-F238E27FC236}">
                <a16:creationId xmlns:a16="http://schemas.microsoft.com/office/drawing/2014/main" id="{9F673BB7-E7B6-355C-1093-CF84BB321E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5550" y="-5419494"/>
            <a:ext cx="4660900" cy="12277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38834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41F1ED-6FC4-464E-3EBD-625F5435E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F584C-4436-A8D9-BFB8-5B9C1E7B4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SPRINT WORKFLOW</a:t>
            </a:r>
          </a:p>
        </p:txBody>
      </p:sp>
      <p:pic>
        <p:nvPicPr>
          <p:cNvPr id="3" name="Picture 2" descr="sprint-workflow.png">
            <a:extLst>
              <a:ext uri="{FF2B5EF4-FFF2-40B4-BE49-F238E27FC236}">
                <a16:creationId xmlns:a16="http://schemas.microsoft.com/office/drawing/2014/main" id="{1E68F9BE-20AC-22F2-0776-06185F9955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1383" y="1371600"/>
            <a:ext cx="1909233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66149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ONCE A DEPLOYABLE PACKAGE IS CREATED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it must never change. Only its fate does.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THIS DELIVERS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800"/>
            </a:pPr>
            <a:r>
              <a:rPr sz="2400" dirty="0"/>
              <a:t>Immutable artifact — built once, promoted unchanged</a:t>
            </a:r>
          </a:p>
          <a:p>
            <a:pPr>
              <a:defRPr sz="1800"/>
            </a:pPr>
            <a:r>
              <a:rPr sz="2400" dirty="0"/>
              <a:t>Structural enforcement — </a:t>
            </a:r>
            <a:r>
              <a:rPr lang="en-US" sz="2400" dirty="0"/>
              <a:t>(near) </a:t>
            </a:r>
            <a:r>
              <a:rPr sz="2400" dirty="0"/>
              <a:t>impossible to skip validation</a:t>
            </a:r>
          </a:p>
          <a:p>
            <a:pPr>
              <a:defRPr sz="1800"/>
            </a:pPr>
            <a:r>
              <a:rPr sz="2400" dirty="0"/>
              <a:t>Full automation — provision, copy, deploy, verify, cleanup</a:t>
            </a:r>
          </a:p>
          <a:p>
            <a:pPr>
              <a:defRPr sz="1800"/>
            </a:pPr>
            <a:r>
              <a:rPr sz="2400" dirty="0"/>
              <a:t>Zero drift — same binary, deterministic compilation</a:t>
            </a:r>
          </a:p>
          <a:p>
            <a:pPr>
              <a:defRPr sz="1800"/>
            </a:pPr>
            <a:endParaRPr sz="2400" dirty="0"/>
          </a:p>
          <a:p>
            <a:pPr>
              <a:defRPr sz="1800"/>
            </a:pPr>
            <a:r>
              <a:rPr sz="2400" dirty="0"/>
              <a:t>Start with build + PR validation.</a:t>
            </a:r>
          </a:p>
          <a:p>
            <a:pPr>
              <a:defRPr sz="1800"/>
            </a:pPr>
            <a:r>
              <a:rPr sz="2400" dirty="0"/>
              <a:t>You'll never go back to build VMs.</a:t>
            </a:r>
            <a:endParaRPr lang="en-US" sz="2400" dirty="0"/>
          </a:p>
          <a:p>
            <a:pPr>
              <a:defRPr sz="1800"/>
            </a:pPr>
            <a:r>
              <a:rPr lang="en-US" sz="2400" dirty="0"/>
              <a:t>Everything we’ve talked about is available at </a:t>
            </a:r>
            <a:endParaRPr sz="24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 &amp; 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What's the one part of your current ALM process that keeps you up at night?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ynamicsMinds25_speaker template" id="{4D62A279-68C0-D845-8919-ABFEC135ADAC}" vid="{0C8B5561-8A62-0B4D-BDD5-A0ECA7EE697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7389d9a-de23-44f7-b68d-8aeda9d70918">
      <Terms xmlns="http://schemas.microsoft.com/office/infopath/2007/PartnerControls"/>
    </lcf76f155ced4ddcb4097134ff3c332f>
    <TaxCatchAll xmlns="793b44b8-6629-42b0-8d6f-57790ce798ea" xsi:nil="true"/>
    <DocentricAXVersion xmlns="57389d9a-de23-44f7-b68d-8aeda9d70918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B3A2CABFDE9434B888FE9FD3D9AC681" ma:contentTypeVersion="22" ma:contentTypeDescription="Create a new document." ma:contentTypeScope="" ma:versionID="9915a783b432bc0de7104a88b3e3715b">
  <xsd:schema xmlns:xsd="http://www.w3.org/2001/XMLSchema" xmlns:xs="http://www.w3.org/2001/XMLSchema" xmlns:p="http://schemas.microsoft.com/office/2006/metadata/properties" xmlns:ns2="57389d9a-de23-44f7-b68d-8aeda9d70918" xmlns:ns3="793b44b8-6629-42b0-8d6f-57790ce798ea" targetNamespace="http://schemas.microsoft.com/office/2006/metadata/properties" ma:root="true" ma:fieldsID="838d3f2a3243d13adc46cfa97c00e314" ns2:_="" ns3:_="">
    <xsd:import namespace="57389d9a-de23-44f7-b68d-8aeda9d70918"/>
    <xsd:import namespace="793b44b8-6629-42b0-8d6f-57790ce798e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DocentricAXVersion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7389d9a-de23-44f7-b68d-8aeda9d709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DocentricAXVersion" ma:index="19" nillable="true" ma:displayName="Docentric AX Version" ma:format="Dropdown" ma:internalName="DocentricAXVersion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654b9dce-221a-4eab-a3a3-6e3e5b25b99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93b44b8-6629-42b0-8d6f-57790ce798ea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f23dbe39-6092-479f-938d-6ecd38679f76}" ma:internalName="TaxCatchAll" ma:showField="CatchAllData" ma:web="793b44b8-6629-42b0-8d6f-57790ce798e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C9A0278-7D52-477D-A0DE-28BC56CE3D60}">
  <ds:schemaRefs>
    <ds:schemaRef ds:uri="http://schemas.microsoft.com/office/2006/metadata/properties"/>
    <ds:schemaRef ds:uri="http://schemas.microsoft.com/office/infopath/2007/PartnerControls"/>
    <ds:schemaRef ds:uri="57389d9a-de23-44f7-b68d-8aeda9d70918"/>
    <ds:schemaRef ds:uri="793b44b8-6629-42b0-8d6f-57790ce798ea"/>
  </ds:schemaRefs>
</ds:datastoreItem>
</file>

<file path=customXml/itemProps2.xml><?xml version="1.0" encoding="utf-8"?>
<ds:datastoreItem xmlns:ds="http://schemas.openxmlformats.org/officeDocument/2006/customXml" ds:itemID="{CF607807-FC04-49EB-81FA-734CE88EF07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906B598-CF7C-4E39-AA4F-BAEBFBE4947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7389d9a-de23-44f7-b68d-8aeda9d70918"/>
    <ds:schemaRef ds:uri="793b44b8-6629-42b0-8d6f-57790ce798e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DynamicsMinds25_speaker template (2)</Template>
  <TotalTime>320</TotalTime>
  <Words>1679</Words>
  <Application>Microsoft Office PowerPoint</Application>
  <PresentationFormat>Widescreen</PresentationFormat>
  <Paragraphs>247</Paragraphs>
  <Slides>61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5" baseType="lpstr">
      <vt:lpstr>Aptos</vt:lpstr>
      <vt:lpstr>Arial</vt:lpstr>
      <vt:lpstr>DIN Mittelschrift</vt:lpstr>
      <vt:lpstr>Office Theme</vt:lpstr>
      <vt:lpstr>PowerPoint Presentation</vt:lpstr>
      <vt:lpstr>PowerPoint Presentation</vt:lpstr>
      <vt:lpstr>THE QUESTION</vt:lpstr>
      <vt:lpstr>WHAT WE'LL COVER</vt:lpstr>
      <vt:lpstr>THE BIG PICTURE</vt:lpstr>
      <vt:lpstr>PowerPoint Presentation</vt:lpstr>
      <vt:lpstr>WHY LCS CAN'T GET YOU THERE</vt:lpstr>
      <vt:lpstr>LCS vs WHAT WE WANT</vt:lpstr>
      <vt:lpstr>LCS vs PPAC</vt:lpstr>
      <vt:lpstr>PowerPoint Presentation</vt:lpstr>
      <vt:lpstr>PowerPoint Presentation</vt:lpstr>
      <vt:lpstr>LCS vs PPAC</vt:lpstr>
      <vt:lpstr>THE IMMUTABLE ARTIFACT</vt:lpstr>
      <vt:lpstr>HOW THE ARTIFACT IS BUILT</vt:lpstr>
      <vt:lpstr>WHY IMMUTABILITY MATTERS</vt:lpstr>
      <vt:lpstr>ARTIFACT PROMOTION</vt:lpstr>
      <vt:lpstr>BRANCH STRATEGY &amp; ENFORCEMENT</vt:lpstr>
      <vt:lpstr>THE PROMOTION MODEL</vt:lpstr>
      <vt:lpstr>BRANCH STRATEGY</vt:lpstr>
      <vt:lpstr>BRANCH STRATEGY</vt:lpstr>
      <vt:lpstr>BRANCH STRATEGY</vt:lpstr>
      <vt:lpstr>BRANCH STRATEGY</vt:lpstr>
      <vt:lpstr>PR AS THE QUALITY GATE</vt:lpstr>
      <vt:lpstr>PR VALIDATION FLOW</vt:lpstr>
      <vt:lpstr>PowerPoint Presentation</vt:lpstr>
      <vt:lpstr>PowerPoint Presentation</vt:lpstr>
      <vt:lpstr>PR VALIDATION FLOW</vt:lpstr>
      <vt:lpstr>STRUCTURAL ENFORCEMENT</vt:lpstr>
      <vt:lpstr>THE DEPLOY PATTERN</vt:lpstr>
      <vt:lpstr>THE TWO-JOB PATTERN</vt:lpstr>
      <vt:lpstr>DEPLOY TEMPLATE</vt:lpstr>
      <vt:lpstr>PowerPoint Presentation</vt:lpstr>
      <vt:lpstr>PowerPoint Presentation</vt:lpstr>
      <vt:lpstr>DEPLOY TEMPLATE</vt:lpstr>
      <vt:lpstr>READINESS &amp; SYNCHRONOUS WAIT</vt:lpstr>
      <vt:lpstr>ENVIRONMENT AUTOMATION</vt:lpstr>
      <vt:lpstr>BRANCH-TRIGGERED PROVISIONING</vt:lpstr>
      <vt:lpstr>ENVIRONMENT LIFECYCLE</vt:lpstr>
      <vt:lpstr>PowerPoint Presentation</vt:lpstr>
      <vt:lpstr>PowerPoint Presentation</vt:lpstr>
      <vt:lpstr>PowerPoint Presentation</vt:lpstr>
      <vt:lpstr>ENVIRONMENT LIFECYCLE</vt:lpstr>
      <vt:lpstr>THE FULL DEVELOPMENT LIFECYCLE</vt:lpstr>
      <vt:lpstr>POST-COPY AUTOMATION VIA DEVOPS</vt:lpstr>
      <vt:lpstr>SECURITY &amp; GOVERNANCE</vt:lpstr>
      <vt:lpstr>ENFORCEMENT LAYERS</vt:lpstr>
      <vt:lpstr>SECURITY LAYERS</vt:lpstr>
      <vt:lpstr>PowerPoint Presentation</vt:lpstr>
      <vt:lpstr>PowerPoint Presentation</vt:lpstr>
      <vt:lpstr>SECURITY LAYERS</vt:lpstr>
      <vt:lpstr>GETTING STARTED</vt:lpstr>
      <vt:lpstr>THE MINIMUM VIABLE PIPELINE</vt:lpstr>
      <vt:lpstr>COMMON GOTCHAS</vt:lpstr>
      <vt:lpstr>SPRINT WORKFLOW</vt:lpstr>
      <vt:lpstr>PowerPoint Presentation</vt:lpstr>
      <vt:lpstr>PowerPoint Presentation</vt:lpstr>
      <vt:lpstr>SPRINT WORKFLOW</vt:lpstr>
      <vt:lpstr>ONCE A DEPLOYABLE PACKAGE IS CREATED</vt:lpstr>
      <vt:lpstr>WHAT THIS DELIVERS</vt:lpstr>
      <vt:lpstr>Q &amp; A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Kristina Radomirović Maček</dc:creator>
  <cp:lastModifiedBy>Nathan Clouse</cp:lastModifiedBy>
  <cp:revision>14</cp:revision>
  <dcterms:created xsi:type="dcterms:W3CDTF">2024-11-19T16:48:26Z</dcterms:created>
  <dcterms:modified xsi:type="dcterms:W3CDTF">2026-05-19T23:29:49Z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0x0101001B3A2CABFDE9434B888FE9FD3D9AC681</vt:lpwstr>
  </property>
  <property fmtid="{D5CDD505-2E9C-101B-9397-08002B2CF9AE}" pid="3" name="MediaServiceImageTags">
    <vt:lpwstr/>
  </property>
</Properties>
</file>